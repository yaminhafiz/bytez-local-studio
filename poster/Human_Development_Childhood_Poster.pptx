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6459200" cy="92583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800" b="1">
                <a:solidFill>
                  <a:srgbClr val="1F2937"/>
                </a:solidFill>
                <a:latin typeface="Arial"/>
              </a:rPr>
              <a:t>Year 6 obesity, England 2024/25 (%)</a:t>
            </a:r>
          </a:p>
        </c:rich>
      </c:tx>
      <c:layout/>
      <c:overlay val="0"/>
    </c:title>
    <c:autoTitleDeleted val="0"/>
    <c:plotArea>
      <c:barChart>
        <c:barDir val="bar"/>
        <c:grouping val="clustered"/>
        <c:varyColors val="0"/>
        <c:ser>
          <c:idx val="0"/>
          <c:order val="0"/>
          <c:tx>
            <c:strRef>
              <c:f>Sheet1!$B$1</c:f>
              <c:strCache>
                <c:ptCount val="1"/>
                <c:pt idx="0">
                  <c:v>Year 6 obesity (%)</c:v>
                </c:pt>
              </c:strCache>
            </c:strRef>
          </c:tx>
          <c:spPr>
            <a:solidFill>
              <a:srgbClr val="7FA7CF"/>
            </a:solidFill>
          </c:spPr>
          <c:dPt>
            <c:idx val="2"/>
            <c:spPr>
              <a:solidFill>
                <a:srgbClr val="245C8F"/>
              </a:solidFill>
            </c:spPr>
          </c:dPt>
          <c:dPt>
            <c:idx val="1"/>
            <c:spPr>
              <a:solidFill>
                <a:srgbClr val="4F7FB0"/>
              </a:solidFill>
            </c:spPr>
          </c:dPt>
          <c:cat>
            <c:strRef>
              <c:f>Sheet1!$A$2:$A$4</c:f>
              <c:strCache>
                <c:ptCount val="3"/>
                <c:pt idx="0">
                  <c:v>Least deprived</c:v>
                </c:pt>
                <c:pt idx="1">
                  <c:v>All Year 6</c:v>
                </c:pt>
                <c:pt idx="2">
                  <c:v>Most deprived</c:v>
                </c:pt>
              </c:strCache>
            </c:strRef>
          </c:cat>
          <c:val>
            <c:numRef>
              <c:f>Sheet1!$B$2:$B$4</c:f>
              <c:numCache>
                <c:formatCode>General</c:formatCode>
                <c:ptCount val="3"/>
                <c:pt idx="0">
                  <c:v>13.5</c:v>
                </c:pt>
                <c:pt idx="1">
                  <c:v>22.2</c:v>
                </c:pt>
                <c:pt idx="2">
                  <c:v>29.3</c:v>
                </c:pt>
              </c:numCache>
            </c:numRef>
          </c:val>
        </c:ser>
        <c:dLbls>
          <c:numFmt formatCode="0.0&quot;%&quot;" sourceLinked="0"/>
          <c:txPr>
            <a:bodyPr/>
            <a:lstStyle/>
            <a:p>
              <a:pPr>
                <a:defRPr sz="800" b="1">
                  <a:solidFill>
                    <a:srgbClr val="1F2937"/>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9CA3AF"/>
            </a:solidFill>
          </a:ln>
        </c:spPr>
        <c:txPr>
          <a:bodyPr/>
          <a:lstStyle/>
          <a:p>
            <a:pPr>
              <a:defRPr sz="750">
                <a:solidFill>
                  <a:srgbClr val="1F2937"/>
                </a:solidFill>
                <a:latin typeface="Arial"/>
              </a:defRPr>
            </a:pPr>
          </a:p>
        </c:txPr>
        <c:crossAx val="-2113994440"/>
        <c:crosses val="autoZero"/>
        <c:auto val="1"/>
        <c:lblAlgn val="ctr"/>
        <c:lblOffset val="100"/>
        <c:noMultiLvlLbl val="0"/>
      </c:catAx>
      <c:valAx>
        <c:axId val="-2113994440"/>
        <c:scaling>
          <c:max val="35.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EEFB"/>
            </a:gs>
            <a:gs pos="100000">
              <a:srgbClr val="E3F4F0"/>
            </a:gs>
          </a:gsLst>
          <a:lin scaled="0" ang="16200000"/>
        </a:gradFill>
        <a:effectLst/>
      </p:bgPr>
    </p:bg>
    <p:spTree>
      <p:nvGrpSpPr>
        <p:cNvPr id="1" name=""/>
        <p:cNvGrpSpPr/>
        <p:nvPr/>
      </p:nvGrpSpPr>
      <p:grpSpPr/>
      <p:sp>
        <p:nvSpPr>
          <p:cNvPr id="2" name="Title banner"/>
          <p:cNvSpPr/>
          <p:nvPr/>
        </p:nvSpPr>
        <p:spPr>
          <a:xfrm>
            <a:off x="320040" y="228600"/>
            <a:ext cx="15819120" cy="77724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000" b="1" i="0">
                <a:solidFill>
                  <a:srgbClr val="FFFFFF"/>
                </a:solidFill>
                <a:latin typeface="Arial"/>
              </a:rPr>
              <a:t>Human Development in Childhood</a:t>
            </a:r>
            <a:r>
              <a:rPr sz="3000" b="1" i="0">
                <a:solidFill>
                  <a:srgbClr val="FFD166"/>
                </a:solidFill>
                <a:latin typeface="Arial"/>
              </a:rPr>
              <a:t>  –  [Student ID]</a:t>
            </a:r>
          </a:p>
        </p:txBody>
      </p:sp>
      <p:sp>
        <p:nvSpPr>
          <p:cNvPr id="3" name="Panel 1. Introduction"/>
          <p:cNvSpPr/>
          <p:nvPr/>
        </p:nvSpPr>
        <p:spPr>
          <a:xfrm>
            <a:off x="320040" y="1143000"/>
            <a:ext cx="3427792" cy="1616456"/>
          </a:xfrm>
          <a:prstGeom prst="roundRect">
            <a:avLst>
              <a:gd name="adj" fmla="val 5091"/>
            </a:avLst>
          </a:prstGeom>
          <a:solidFill>
            <a:srgbClr val="FFFFFF"/>
          </a:solidFill>
          <a:ln w="19050">
            <a:solidFill>
              <a:srgbClr val="3D3B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er 1. Introduction"/>
          <p:cNvSpPr/>
          <p:nvPr/>
        </p:nvSpPr>
        <p:spPr>
          <a:xfrm>
            <a:off x="320040" y="1143000"/>
            <a:ext cx="3427792" cy="292608"/>
          </a:xfrm>
          <a:prstGeom prst="roundRect">
            <a:avLst>
              <a:gd name="adj" fmla="val 8000"/>
            </a:avLst>
          </a:prstGeom>
          <a:solidFill>
            <a:srgbClr val="3D3B8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r>
              <a:rPr sz="1250" b="1" i="0">
                <a:solidFill>
                  <a:srgbClr val="FFFFFF"/>
                </a:solidFill>
                <a:latin typeface="Arial"/>
              </a:rPr>
              <a:t>1. Introduction</a:t>
            </a:r>
          </a:p>
        </p:txBody>
      </p:sp>
      <p:sp>
        <p:nvSpPr>
          <p:cNvPr id="5" name="1. Introduction text"/>
          <p:cNvSpPr txBox="1"/>
          <p:nvPr/>
        </p:nvSpPr>
        <p:spPr>
          <a:xfrm>
            <a:off x="384048" y="1490472"/>
            <a:ext cx="3299776" cy="1177544"/>
          </a:xfrm>
          <a:prstGeom prst="rect">
            <a:avLst/>
          </a:prstGeom>
          <a:noFill/>
        </p:spPr>
        <p:txBody>
          <a:bodyPr wrap="square" lIns="54864" rIns="54864" tIns="27432" bIns="27432" anchor="t"/>
          <a:lstStyle/>
          <a:p>
            <a:pPr>
              <a:lnSpc>
                <a:spcPct val="100000"/>
              </a:lnSpc>
              <a:spcAft>
                <a:spcPts val="200"/>
              </a:spcAft>
            </a:pPr>
            <a:r>
              <a:rPr sz="900" b="0" i="0">
                <a:solidFill>
                  <a:srgbClr val="1F2937"/>
                </a:solidFill>
                <a:latin typeface="Arial"/>
              </a:rPr>
              <a:t>The period between infancy and adolescence is childhood. It is divided into </a:t>
            </a:r>
            <a:r>
              <a:rPr sz="900" b="1" i="0">
                <a:solidFill>
                  <a:srgbClr val="3D3B8E"/>
                </a:solidFill>
                <a:latin typeface="Arial"/>
              </a:rPr>
              <a:t>early childhood (2 to 6 years)</a:t>
            </a:r>
            <a:r>
              <a:rPr sz="900" b="0" i="0">
                <a:solidFill>
                  <a:srgbClr val="1F2937"/>
                </a:solidFill>
                <a:latin typeface="Arial"/>
              </a:rPr>
              <a:t> and </a:t>
            </a:r>
            <a:r>
              <a:rPr sz="900" b="1" i="0">
                <a:solidFill>
                  <a:srgbClr val="3D3B8E"/>
                </a:solidFill>
                <a:latin typeface="Arial"/>
              </a:rPr>
              <a:t>middle childhood (6 to 12 years)</a:t>
            </a:r>
            <a:r>
              <a:rPr sz="900" b="0" i="0">
                <a:solidFill>
                  <a:srgbClr val="1F2937"/>
                </a:solidFill>
                <a:latin typeface="Arial"/>
              </a:rPr>
              <a:t> (Boyd and Bee, 2019). According to the </a:t>
            </a:r>
            <a:r>
              <a:rPr sz="900" b="1" i="0">
                <a:solidFill>
                  <a:srgbClr val="3D3B8E"/>
                </a:solidFill>
                <a:latin typeface="Arial"/>
              </a:rPr>
              <a:t>biopsychosocial perspective</a:t>
            </a:r>
            <a:r>
              <a:rPr sz="900" b="0" i="0">
                <a:solidFill>
                  <a:srgbClr val="1F2937"/>
                </a:solidFill>
                <a:latin typeface="Arial"/>
              </a:rPr>
              <a:t>, the body, mind and the social world interact. This poster discusses biological, psychological and social change during childhood. It also indicates what influences it and makes comparisons between major theories.</a:t>
            </a:r>
          </a:p>
        </p:txBody>
      </p:sp>
      <p:sp>
        <p:nvSpPr>
          <p:cNvPr id="6" name="Panel 2. Biological Development"/>
          <p:cNvSpPr/>
          <p:nvPr/>
        </p:nvSpPr>
        <p:spPr>
          <a:xfrm>
            <a:off x="320040" y="2997200"/>
            <a:ext cx="3427792" cy="5986779"/>
          </a:xfrm>
          <a:prstGeom prst="roundRect">
            <a:avLst>
              <a:gd name="adj" fmla="val 2400"/>
            </a:avLst>
          </a:prstGeom>
          <a:solidFill>
            <a:srgbClr val="FFFFFF"/>
          </a:solidFill>
          <a:ln w="19050">
            <a:solidFill>
              <a:srgbClr val="1679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ader 2. Biological Development"/>
          <p:cNvSpPr/>
          <p:nvPr/>
        </p:nvSpPr>
        <p:spPr>
          <a:xfrm>
            <a:off x="320040" y="2997200"/>
            <a:ext cx="3427792" cy="292608"/>
          </a:xfrm>
          <a:prstGeom prst="roundRect">
            <a:avLst>
              <a:gd name="adj" fmla="val 8000"/>
            </a:avLst>
          </a:prstGeom>
          <a:solidFill>
            <a:srgbClr val="16796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r>
              <a:rPr sz="1250" b="1" i="0">
                <a:solidFill>
                  <a:srgbClr val="FFFFFF"/>
                </a:solidFill>
                <a:latin typeface="Arial"/>
              </a:rPr>
              <a:t>2. Biological Development</a:t>
            </a:r>
          </a:p>
        </p:txBody>
      </p:sp>
      <p:sp>
        <p:nvSpPr>
          <p:cNvPr id="8" name="2. Biological Development text"/>
          <p:cNvSpPr txBox="1"/>
          <p:nvPr/>
        </p:nvSpPr>
        <p:spPr>
          <a:xfrm>
            <a:off x="384048" y="3344672"/>
            <a:ext cx="3299776" cy="3247644"/>
          </a:xfrm>
          <a:prstGeom prst="rect">
            <a:avLst/>
          </a:prstGeom>
          <a:noFill/>
        </p:spPr>
        <p:txBody>
          <a:bodyPr wrap="square" lIns="54864" rIns="54864" tIns="27432" bIns="27432" anchor="t"/>
          <a:lstStyle/>
          <a:p>
            <a:pPr>
              <a:lnSpc>
                <a:spcPct val="100000"/>
              </a:lnSpc>
              <a:spcAft>
                <a:spcPts val="200"/>
              </a:spcAft>
            </a:pPr>
            <a:r>
              <a:rPr sz="950" b="1" i="0">
                <a:solidFill>
                  <a:srgbClr val="16796F"/>
                </a:solidFill>
                <a:latin typeface="Arial"/>
              </a:rPr>
              <a:t>Physical growth</a:t>
            </a:r>
          </a:p>
          <a:p>
            <a:pPr marL="118872" indent="-118872">
              <a:lnSpc>
                <a:spcPct val="100000"/>
              </a:lnSpc>
              <a:spcAft>
                <a:spcPts val="200"/>
              </a:spcAft>
              <a:buClr>
                <a:srgbClr val="16796F"/>
              </a:buClr>
              <a:buFont typeface="Arial"/>
              <a:buChar char="•"/>
            </a:pPr>
            <a:r>
              <a:rPr sz="900" b="0" i="0">
                <a:solidFill>
                  <a:srgbClr val="1F2937"/>
                </a:solidFill>
                <a:latin typeface="Arial"/>
              </a:rPr>
              <a:t>The growth is not as rapid as during infancy.</a:t>
            </a:r>
          </a:p>
          <a:p>
            <a:pPr marL="118872" indent="-118872">
              <a:lnSpc>
                <a:spcPct val="100000"/>
              </a:lnSpc>
              <a:spcAft>
                <a:spcPts val="200"/>
              </a:spcAft>
              <a:buClr>
                <a:srgbClr val="16796F"/>
              </a:buClr>
              <a:buFont typeface="Arial"/>
              <a:buChar char="•"/>
            </a:pPr>
            <a:r>
              <a:rPr sz="900" b="0" i="0">
                <a:solidFill>
                  <a:srgbClr val="1F2937"/>
                </a:solidFill>
                <a:latin typeface="Arial"/>
              </a:rPr>
              <a:t>Children become taller and thinner, and their bodies are more reminiscent of adults (Boyd and Bee, 2019).</a:t>
            </a:r>
          </a:p>
          <a:p>
            <a:pPr>
              <a:lnSpc>
                <a:spcPct val="100000"/>
              </a:lnSpc>
              <a:spcBef>
                <a:spcPts val="300"/>
              </a:spcBef>
              <a:spcAft>
                <a:spcPts val="200"/>
              </a:spcAft>
            </a:pPr>
            <a:r>
              <a:rPr sz="950" b="1" i="0">
                <a:solidFill>
                  <a:srgbClr val="16796F"/>
                </a:solidFill>
                <a:latin typeface="Arial"/>
              </a:rPr>
              <a:t>Motor milestones</a:t>
            </a:r>
          </a:p>
          <a:p>
            <a:pPr marL="118872" indent="-118872">
              <a:lnSpc>
                <a:spcPct val="100000"/>
              </a:lnSpc>
              <a:spcAft>
                <a:spcPts val="200"/>
              </a:spcAft>
              <a:buClr>
                <a:srgbClr val="16796F"/>
              </a:buClr>
              <a:buFont typeface="Arial"/>
              <a:buChar char="•"/>
            </a:pPr>
            <a:r>
              <a:rPr sz="900" b="1" i="0">
                <a:solidFill>
                  <a:srgbClr val="16796F"/>
                </a:solidFill>
                <a:latin typeface="Arial"/>
              </a:rPr>
              <a:t>Gross motor skills:</a:t>
            </a:r>
            <a:r>
              <a:rPr sz="900" b="0" i="0">
                <a:solidFill>
                  <a:srgbClr val="1F2937"/>
                </a:solidFill>
                <a:latin typeface="Arial"/>
              </a:rPr>
              <a:t> running, hopping and climbing then riding a bike.</a:t>
            </a:r>
          </a:p>
          <a:p>
            <a:pPr marL="118872" indent="-118872">
              <a:lnSpc>
                <a:spcPct val="100000"/>
              </a:lnSpc>
              <a:spcAft>
                <a:spcPts val="200"/>
              </a:spcAft>
              <a:buClr>
                <a:srgbClr val="16796F"/>
              </a:buClr>
              <a:buFont typeface="Arial"/>
              <a:buChar char="•"/>
            </a:pPr>
            <a:r>
              <a:rPr sz="900" b="1" i="0">
                <a:solidFill>
                  <a:srgbClr val="16796F"/>
                </a:solidFill>
                <a:latin typeface="Arial"/>
              </a:rPr>
              <a:t>Fine motor skills:</a:t>
            </a:r>
            <a:r>
              <a:rPr sz="900" b="0" i="0">
                <a:solidFill>
                  <a:srgbClr val="1F2937"/>
                </a:solidFill>
                <a:latin typeface="Arial"/>
              </a:rPr>
              <a:t> holding a pencil, using scissors, then joined-up writing (Boyd and Bee, 2019).</a:t>
            </a:r>
          </a:p>
          <a:p>
            <a:pPr>
              <a:lnSpc>
                <a:spcPct val="100000"/>
              </a:lnSpc>
              <a:spcBef>
                <a:spcPts val="300"/>
              </a:spcBef>
              <a:spcAft>
                <a:spcPts val="200"/>
              </a:spcAft>
            </a:pPr>
            <a:r>
              <a:rPr sz="950" b="1" i="0">
                <a:solidFill>
                  <a:srgbClr val="16796F"/>
                </a:solidFill>
                <a:latin typeface="Arial"/>
              </a:rPr>
              <a:t>Brain development</a:t>
            </a:r>
          </a:p>
          <a:p>
            <a:pPr marL="118872" indent="-118872">
              <a:lnSpc>
                <a:spcPct val="100000"/>
              </a:lnSpc>
              <a:spcAft>
                <a:spcPts val="200"/>
              </a:spcAft>
              <a:buClr>
                <a:srgbClr val="16796F"/>
              </a:buClr>
              <a:buFont typeface="Arial"/>
              <a:buChar char="•"/>
            </a:pPr>
            <a:r>
              <a:rPr sz="900" b="0" i="0">
                <a:solidFill>
                  <a:srgbClr val="1F2937"/>
                </a:solidFill>
                <a:latin typeface="Arial"/>
              </a:rPr>
              <a:t>The brain continues to form connections among nerve cells. This enhances </a:t>
            </a:r>
            <a:r>
              <a:rPr sz="900" b="1" i="0">
                <a:solidFill>
                  <a:srgbClr val="16796F"/>
                </a:solidFill>
                <a:latin typeface="Arial"/>
              </a:rPr>
              <a:t>memory, attention and self-control</a:t>
            </a:r>
            <a:r>
              <a:rPr sz="900" b="0" i="0">
                <a:solidFill>
                  <a:srgbClr val="1F2937"/>
                </a:solidFill>
                <a:latin typeface="Arial"/>
              </a:rPr>
              <a:t> (Boyd and Bee, 2019).</a:t>
            </a:r>
          </a:p>
          <a:p>
            <a:pPr>
              <a:lnSpc>
                <a:spcPct val="100000"/>
              </a:lnSpc>
              <a:spcBef>
                <a:spcPts val="300"/>
              </a:spcBef>
              <a:spcAft>
                <a:spcPts val="200"/>
              </a:spcAft>
            </a:pPr>
            <a:r>
              <a:rPr sz="950" b="1" i="0">
                <a:solidFill>
                  <a:srgbClr val="16796F"/>
                </a:solidFill>
                <a:latin typeface="Arial"/>
              </a:rPr>
              <a:t>Health challenge: physical activity</a:t>
            </a:r>
          </a:p>
          <a:p>
            <a:pPr marL="118872" indent="-118872">
              <a:lnSpc>
                <a:spcPct val="100000"/>
              </a:lnSpc>
              <a:spcAft>
                <a:spcPts val="200"/>
              </a:spcAft>
              <a:buClr>
                <a:srgbClr val="16796F"/>
              </a:buClr>
              <a:buFont typeface="Arial"/>
              <a:buChar char="•"/>
            </a:pPr>
            <a:r>
              <a:rPr sz="900" b="0" i="0">
                <a:solidFill>
                  <a:srgbClr val="1F2937"/>
                </a:solidFill>
                <a:latin typeface="Arial"/>
              </a:rPr>
              <a:t>Exercise develops strong bones and muscles. It enhances motor and thinking skills as well (WHO, 2024).</a:t>
            </a:r>
          </a:p>
          <a:p>
            <a:pPr marL="118872" indent="-118872">
              <a:lnSpc>
                <a:spcPct val="100000"/>
              </a:lnSpc>
              <a:spcAft>
                <a:spcPts val="200"/>
              </a:spcAft>
              <a:buClr>
                <a:srgbClr val="16796F"/>
              </a:buClr>
              <a:buFont typeface="Arial"/>
              <a:buChar char="•"/>
            </a:pPr>
            <a:r>
              <a:rPr sz="900" b="0" i="0">
                <a:solidFill>
                  <a:srgbClr val="1F2937"/>
                </a:solidFill>
                <a:latin typeface="Arial"/>
              </a:rPr>
              <a:t>However, </a:t>
            </a:r>
            <a:r>
              <a:rPr sz="900" b="1" i="0">
                <a:solidFill>
                  <a:srgbClr val="16796F"/>
                </a:solidFill>
                <a:latin typeface="Arial"/>
              </a:rPr>
              <a:t>81%</a:t>
            </a:r>
            <a:r>
              <a:rPr sz="900" b="0" i="0">
                <a:solidFill>
                  <a:srgbClr val="1F2937"/>
                </a:solidFill>
                <a:latin typeface="Arial"/>
              </a:rPr>
              <a:t> of children between the ages of 11 and 17 years are not physically active all over the world (WHO, 2024).</a:t>
            </a:r>
          </a:p>
          <a:p>
            <a:pPr marL="118872" indent="-118872">
              <a:lnSpc>
                <a:spcPct val="100000"/>
              </a:lnSpc>
              <a:spcAft>
                <a:spcPts val="200"/>
              </a:spcAft>
              <a:buClr>
                <a:srgbClr val="16796F"/>
              </a:buClr>
              <a:buFont typeface="Arial"/>
              <a:buChar char="•"/>
            </a:pPr>
            <a:r>
              <a:rPr sz="900" b="0" i="0">
                <a:solidFill>
                  <a:srgbClr val="1F2937"/>
                </a:solidFill>
                <a:latin typeface="Arial"/>
              </a:rPr>
              <a:t>So active habits need to start in childhood.</a:t>
            </a:r>
          </a:p>
        </p:txBody>
      </p:sp>
      <p:sp>
        <p:nvSpPr>
          <p:cNvPr id="9" name="Rectangle 8"/>
          <p:cNvSpPr/>
          <p:nvPr/>
        </p:nvSpPr>
        <p:spPr>
          <a:xfrm>
            <a:off x="402336" y="6674612"/>
            <a:ext cx="634352" cy="3474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00" b="1" i="0">
                <a:solidFill>
                  <a:srgbClr val="1F2937"/>
                </a:solidFill>
                <a:latin typeface="Arial"/>
              </a:rPr>
              <a:t>Infancy</a:t>
            </a:r>
          </a:p>
        </p:txBody>
      </p:sp>
      <p:sp>
        <p:nvSpPr>
          <p:cNvPr id="10" name="Rectangle 9"/>
          <p:cNvSpPr/>
          <p:nvPr/>
        </p:nvSpPr>
        <p:spPr>
          <a:xfrm>
            <a:off x="1054976" y="6674612"/>
            <a:ext cx="960672" cy="347472"/>
          </a:xfrm>
          <a:prstGeom prst="rect">
            <a:avLst/>
          </a:prstGeom>
          <a:solidFill>
            <a:srgbClr val="8FD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00" b="1" i="0">
                <a:solidFill>
                  <a:srgbClr val="1F2937"/>
                </a:solidFill>
                <a:latin typeface="Arial"/>
              </a:rPr>
              <a:t>Early childhood</a:t>
            </a:r>
          </a:p>
          <a:p>
            <a:pPr algn="ctr"/>
            <a:r>
              <a:rPr sz="700" b="0" i="0">
                <a:solidFill>
                  <a:srgbClr val="1F2937"/>
                </a:solidFill>
                <a:latin typeface="Arial"/>
              </a:rPr>
              <a:t>2 to 6 years</a:t>
            </a:r>
          </a:p>
        </p:txBody>
      </p:sp>
      <p:sp>
        <p:nvSpPr>
          <p:cNvPr id="11" name="Rectangle 10"/>
          <p:cNvSpPr/>
          <p:nvPr/>
        </p:nvSpPr>
        <p:spPr>
          <a:xfrm>
            <a:off x="2033936" y="6674612"/>
            <a:ext cx="960672" cy="347472"/>
          </a:xfrm>
          <a:prstGeom prst="rect">
            <a:avLst/>
          </a:prstGeom>
          <a:solidFill>
            <a:srgbClr val="1679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00" b="1" i="0">
                <a:solidFill>
                  <a:srgbClr val="FFFFFF"/>
                </a:solidFill>
                <a:latin typeface="Arial"/>
              </a:rPr>
              <a:t>Middle childhood</a:t>
            </a:r>
          </a:p>
          <a:p>
            <a:pPr algn="ctr"/>
            <a:r>
              <a:rPr sz="700" b="0" i="0">
                <a:solidFill>
                  <a:srgbClr val="FFFFFF"/>
                </a:solidFill>
                <a:latin typeface="Arial"/>
              </a:rPr>
              <a:t>6 to 12 years</a:t>
            </a:r>
          </a:p>
        </p:txBody>
      </p:sp>
      <p:sp>
        <p:nvSpPr>
          <p:cNvPr id="12" name="Rectangle 11"/>
          <p:cNvSpPr/>
          <p:nvPr/>
        </p:nvSpPr>
        <p:spPr>
          <a:xfrm>
            <a:off x="3012896" y="6674612"/>
            <a:ext cx="634352" cy="3474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00" b="1" i="0">
                <a:solidFill>
                  <a:srgbClr val="1F2937"/>
                </a:solidFill>
                <a:latin typeface="Arial"/>
              </a:rPr>
              <a:t>Adolescence</a:t>
            </a:r>
          </a:p>
        </p:txBody>
      </p:sp>
      <p:sp>
        <p:nvSpPr>
          <p:cNvPr id="13" name="Rounded Rectangle 12"/>
          <p:cNvSpPr/>
          <p:nvPr/>
        </p:nvSpPr>
        <p:spPr>
          <a:xfrm>
            <a:off x="402336" y="7095236"/>
            <a:ext cx="566928" cy="347472"/>
          </a:xfrm>
          <a:prstGeom prst="roundRect">
            <a:avLst>
              <a:gd name="adj" fmla="val 8000"/>
            </a:avLst>
          </a:prstGeom>
          <a:solidFill>
            <a:srgbClr val="1679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50" b="1" i="0">
                <a:solidFill>
                  <a:srgbClr val="FFFFFF"/>
                </a:solidFill>
                <a:latin typeface="Arial"/>
              </a:rPr>
              <a:t>Gross motor</a:t>
            </a:r>
          </a:p>
        </p:txBody>
      </p:sp>
      <p:sp>
        <p:nvSpPr>
          <p:cNvPr id="14" name="Rounded Rectangle 13"/>
          <p:cNvSpPr/>
          <p:nvPr/>
        </p:nvSpPr>
        <p:spPr>
          <a:xfrm>
            <a:off x="1024128" y="7095236"/>
            <a:ext cx="564340" cy="347472"/>
          </a:xfrm>
          <a:prstGeom prst="roundRect">
            <a:avLst>
              <a:gd name="adj" fmla="val 8000"/>
            </a:avLst>
          </a:prstGeom>
          <a:solidFill>
            <a:srgbClr val="E4F4F1"/>
          </a:solidFill>
          <a:ln w="9525">
            <a:solidFill>
              <a:srgbClr val="16796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00" b="0" i="0">
                <a:solidFill>
                  <a:srgbClr val="1F2937"/>
                </a:solidFill>
                <a:latin typeface="Arial"/>
              </a:rPr>
              <a:t>running</a:t>
            </a:r>
          </a:p>
        </p:txBody>
      </p:sp>
      <p:sp>
        <p:nvSpPr>
          <p:cNvPr id="15" name="Right Arrow 14"/>
          <p:cNvSpPr/>
          <p:nvPr/>
        </p:nvSpPr>
        <p:spPr>
          <a:xfrm>
            <a:off x="1606756" y="7214108"/>
            <a:ext cx="91440" cy="109728"/>
          </a:xfrm>
          <a:prstGeom prst="rightArrow">
            <a:avLst/>
          </a:prstGeom>
          <a:solidFill>
            <a:srgbClr val="1679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716484" y="7095236"/>
            <a:ext cx="564340" cy="347472"/>
          </a:xfrm>
          <a:prstGeom prst="roundRect">
            <a:avLst>
              <a:gd name="adj" fmla="val 8000"/>
            </a:avLst>
          </a:prstGeom>
          <a:solidFill>
            <a:srgbClr val="E4F4F1"/>
          </a:solidFill>
          <a:ln w="9525">
            <a:solidFill>
              <a:srgbClr val="16796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00" b="0" i="0">
                <a:solidFill>
                  <a:srgbClr val="1F2937"/>
                </a:solidFill>
                <a:latin typeface="Arial"/>
              </a:rPr>
              <a:t>hopping</a:t>
            </a:r>
          </a:p>
        </p:txBody>
      </p:sp>
      <p:sp>
        <p:nvSpPr>
          <p:cNvPr id="17" name="Right Arrow 16"/>
          <p:cNvSpPr/>
          <p:nvPr/>
        </p:nvSpPr>
        <p:spPr>
          <a:xfrm>
            <a:off x="2299112" y="7214108"/>
            <a:ext cx="91440" cy="109728"/>
          </a:xfrm>
          <a:prstGeom prst="rightArrow">
            <a:avLst/>
          </a:prstGeom>
          <a:solidFill>
            <a:srgbClr val="1679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08840" y="7095236"/>
            <a:ext cx="564340" cy="347472"/>
          </a:xfrm>
          <a:prstGeom prst="roundRect">
            <a:avLst>
              <a:gd name="adj" fmla="val 8000"/>
            </a:avLst>
          </a:prstGeom>
          <a:solidFill>
            <a:srgbClr val="E4F4F1"/>
          </a:solidFill>
          <a:ln w="9525">
            <a:solidFill>
              <a:srgbClr val="16796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00" b="0" i="0">
                <a:solidFill>
                  <a:srgbClr val="1F2937"/>
                </a:solidFill>
                <a:latin typeface="Arial"/>
              </a:rPr>
              <a:t>climbing</a:t>
            </a:r>
          </a:p>
        </p:txBody>
      </p:sp>
      <p:sp>
        <p:nvSpPr>
          <p:cNvPr id="19" name="Right Arrow 18"/>
          <p:cNvSpPr/>
          <p:nvPr/>
        </p:nvSpPr>
        <p:spPr>
          <a:xfrm>
            <a:off x="2991468" y="7214108"/>
            <a:ext cx="91440" cy="109728"/>
          </a:xfrm>
          <a:prstGeom prst="rightArrow">
            <a:avLst/>
          </a:prstGeom>
          <a:solidFill>
            <a:srgbClr val="1679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101196" y="7095236"/>
            <a:ext cx="564340" cy="347472"/>
          </a:xfrm>
          <a:prstGeom prst="roundRect">
            <a:avLst>
              <a:gd name="adj" fmla="val 8000"/>
            </a:avLst>
          </a:prstGeom>
          <a:solidFill>
            <a:srgbClr val="E4F4F1"/>
          </a:solidFill>
          <a:ln w="9525">
            <a:solidFill>
              <a:srgbClr val="16796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00" b="0" i="0">
                <a:solidFill>
                  <a:srgbClr val="1F2937"/>
                </a:solidFill>
                <a:latin typeface="Arial"/>
              </a:rPr>
              <a:t>riding a bike</a:t>
            </a:r>
          </a:p>
        </p:txBody>
      </p:sp>
      <p:sp>
        <p:nvSpPr>
          <p:cNvPr id="21" name="Rounded Rectangle 20"/>
          <p:cNvSpPr/>
          <p:nvPr/>
        </p:nvSpPr>
        <p:spPr>
          <a:xfrm>
            <a:off x="402336" y="7497571"/>
            <a:ext cx="566928" cy="347472"/>
          </a:xfrm>
          <a:prstGeom prst="roundRect">
            <a:avLst>
              <a:gd name="adj" fmla="val 8000"/>
            </a:avLst>
          </a:prstGeom>
          <a:solidFill>
            <a:srgbClr val="1679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50" b="1" i="0">
                <a:solidFill>
                  <a:srgbClr val="FFFFFF"/>
                </a:solidFill>
                <a:latin typeface="Arial"/>
              </a:rPr>
              <a:t>Fine motor</a:t>
            </a:r>
          </a:p>
        </p:txBody>
      </p:sp>
      <p:sp>
        <p:nvSpPr>
          <p:cNvPr id="22" name="Rounded Rectangle 21"/>
          <p:cNvSpPr/>
          <p:nvPr/>
        </p:nvSpPr>
        <p:spPr>
          <a:xfrm>
            <a:off x="1024128" y="7497571"/>
            <a:ext cx="795125" cy="347472"/>
          </a:xfrm>
          <a:prstGeom prst="roundRect">
            <a:avLst>
              <a:gd name="adj" fmla="val 8000"/>
            </a:avLst>
          </a:prstGeom>
          <a:solidFill>
            <a:srgbClr val="E4F4F1"/>
          </a:solidFill>
          <a:ln w="9525">
            <a:solidFill>
              <a:srgbClr val="16796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00" b="0" i="0">
                <a:solidFill>
                  <a:srgbClr val="1F2937"/>
                </a:solidFill>
                <a:latin typeface="Arial"/>
              </a:rPr>
              <a:t>holding a pencil</a:t>
            </a:r>
          </a:p>
        </p:txBody>
      </p:sp>
      <p:sp>
        <p:nvSpPr>
          <p:cNvPr id="23" name="Right Arrow 22"/>
          <p:cNvSpPr/>
          <p:nvPr/>
        </p:nvSpPr>
        <p:spPr>
          <a:xfrm>
            <a:off x="1837541" y="7616444"/>
            <a:ext cx="91440" cy="109728"/>
          </a:xfrm>
          <a:prstGeom prst="rightArrow">
            <a:avLst/>
          </a:prstGeom>
          <a:solidFill>
            <a:srgbClr val="1679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947269" y="7497571"/>
            <a:ext cx="795125" cy="347472"/>
          </a:xfrm>
          <a:prstGeom prst="roundRect">
            <a:avLst>
              <a:gd name="adj" fmla="val 8000"/>
            </a:avLst>
          </a:prstGeom>
          <a:solidFill>
            <a:srgbClr val="E4F4F1"/>
          </a:solidFill>
          <a:ln w="9525">
            <a:solidFill>
              <a:srgbClr val="16796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00" b="0" i="0">
                <a:solidFill>
                  <a:srgbClr val="1F2937"/>
                </a:solidFill>
                <a:latin typeface="Arial"/>
              </a:rPr>
              <a:t>using scissors</a:t>
            </a:r>
          </a:p>
        </p:txBody>
      </p:sp>
      <p:sp>
        <p:nvSpPr>
          <p:cNvPr id="25" name="Right Arrow 24"/>
          <p:cNvSpPr/>
          <p:nvPr/>
        </p:nvSpPr>
        <p:spPr>
          <a:xfrm>
            <a:off x="2760683" y="7616444"/>
            <a:ext cx="91440" cy="109728"/>
          </a:xfrm>
          <a:prstGeom prst="rightArrow">
            <a:avLst/>
          </a:prstGeom>
          <a:solidFill>
            <a:srgbClr val="1679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870411" y="7497571"/>
            <a:ext cx="795125" cy="347472"/>
          </a:xfrm>
          <a:prstGeom prst="roundRect">
            <a:avLst>
              <a:gd name="adj" fmla="val 8000"/>
            </a:avLst>
          </a:prstGeom>
          <a:solidFill>
            <a:srgbClr val="E4F4F1"/>
          </a:solidFill>
          <a:ln w="9525">
            <a:solidFill>
              <a:srgbClr val="16796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00" b="0" i="0">
                <a:solidFill>
                  <a:srgbClr val="1F2937"/>
                </a:solidFill>
                <a:latin typeface="Arial"/>
              </a:rPr>
              <a:t>joined-up writing</a:t>
            </a:r>
          </a:p>
        </p:txBody>
      </p:sp>
      <p:sp>
        <p:nvSpPr>
          <p:cNvPr id="27" name="Rounded Rectangle 26"/>
          <p:cNvSpPr/>
          <p:nvPr/>
        </p:nvSpPr>
        <p:spPr>
          <a:xfrm>
            <a:off x="402336" y="7899907"/>
            <a:ext cx="566928" cy="347472"/>
          </a:xfrm>
          <a:prstGeom prst="roundRect">
            <a:avLst>
              <a:gd name="adj" fmla="val 8000"/>
            </a:avLst>
          </a:prstGeom>
          <a:solidFill>
            <a:srgbClr val="1679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50" b="1" i="0">
                <a:solidFill>
                  <a:srgbClr val="FFFFFF"/>
                </a:solidFill>
                <a:latin typeface="Arial"/>
              </a:rPr>
              <a:t>Brain</a:t>
            </a:r>
          </a:p>
        </p:txBody>
      </p:sp>
      <p:sp>
        <p:nvSpPr>
          <p:cNvPr id="28" name="Rounded Rectangle 27"/>
          <p:cNvSpPr/>
          <p:nvPr/>
        </p:nvSpPr>
        <p:spPr>
          <a:xfrm>
            <a:off x="1024128" y="7899907"/>
            <a:ext cx="1256696" cy="347472"/>
          </a:xfrm>
          <a:prstGeom prst="roundRect">
            <a:avLst>
              <a:gd name="adj" fmla="val 8000"/>
            </a:avLst>
          </a:prstGeom>
          <a:solidFill>
            <a:srgbClr val="E4F4F1"/>
          </a:solidFill>
          <a:ln w="9525">
            <a:solidFill>
              <a:srgbClr val="16796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00" b="0" i="0">
                <a:solidFill>
                  <a:srgbClr val="1F2937"/>
                </a:solidFill>
                <a:latin typeface="Arial"/>
              </a:rPr>
              <a:t>connections among nerve cells</a:t>
            </a:r>
          </a:p>
        </p:txBody>
      </p:sp>
      <p:sp>
        <p:nvSpPr>
          <p:cNvPr id="29" name="Right Arrow 28"/>
          <p:cNvSpPr/>
          <p:nvPr/>
        </p:nvSpPr>
        <p:spPr>
          <a:xfrm>
            <a:off x="2299112" y="8018779"/>
            <a:ext cx="91440" cy="109728"/>
          </a:xfrm>
          <a:prstGeom prst="rightArrow">
            <a:avLst/>
          </a:prstGeom>
          <a:solidFill>
            <a:srgbClr val="1679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08840" y="7899907"/>
            <a:ext cx="1256696" cy="347472"/>
          </a:xfrm>
          <a:prstGeom prst="roundRect">
            <a:avLst>
              <a:gd name="adj" fmla="val 8000"/>
            </a:avLst>
          </a:prstGeom>
          <a:solidFill>
            <a:srgbClr val="E4F4F1"/>
          </a:solidFill>
          <a:ln w="9525">
            <a:solidFill>
              <a:srgbClr val="16796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00" b="0" i="0">
                <a:solidFill>
                  <a:srgbClr val="1F2937"/>
                </a:solidFill>
                <a:latin typeface="Arial"/>
              </a:rPr>
              <a:t>memory, attention and self-control</a:t>
            </a:r>
          </a:p>
        </p:txBody>
      </p:sp>
      <p:sp>
        <p:nvSpPr>
          <p:cNvPr id="31" name="TextBox 30"/>
          <p:cNvSpPr txBox="1"/>
          <p:nvPr/>
        </p:nvSpPr>
        <p:spPr>
          <a:xfrm>
            <a:off x="384048" y="8329675"/>
            <a:ext cx="3299776" cy="182880"/>
          </a:xfrm>
          <a:prstGeom prst="rect">
            <a:avLst/>
          </a:prstGeom>
          <a:noFill/>
        </p:spPr>
        <p:txBody>
          <a:bodyPr wrap="square" lIns="36576" rIns="36576" tIns="0" bIns="0" anchor="t"/>
          <a:lstStyle/>
          <a:p>
            <a:pPr algn="l"/>
            <a:r>
              <a:rPr sz="850" b="1" i="0">
                <a:solidFill>
                  <a:srgbClr val="16796F"/>
                </a:solidFill>
                <a:latin typeface="Arial"/>
              </a:rPr>
              <a:t>Figure 1. </a:t>
            </a:r>
            <a:r>
              <a:rPr sz="850" b="0" i="1">
                <a:solidFill>
                  <a:srgbClr val="B42318"/>
                </a:solidFill>
                <a:latin typeface="Arial"/>
              </a:rPr>
              <a:t>[MISSING: caption for Figure 1] </a:t>
            </a:r>
            <a:r>
              <a:rPr sz="850" b="0" i="0">
                <a:solidFill>
                  <a:srgbClr val="4B5563"/>
                </a:solidFill>
                <a:latin typeface="Arial"/>
              </a:rPr>
              <a:t>(Boyd and Bee, 2019)</a:t>
            </a:r>
          </a:p>
        </p:txBody>
      </p:sp>
      <p:sp>
        <p:nvSpPr>
          <p:cNvPr id="32" name="Flow arrow down"/>
          <p:cNvSpPr/>
          <p:nvPr/>
        </p:nvSpPr>
        <p:spPr>
          <a:xfrm>
            <a:off x="1915064" y="2796032"/>
            <a:ext cx="237744" cy="164592"/>
          </a:xfrm>
          <a:prstGeom prst="downArrow">
            <a:avLst/>
          </a:prstGeom>
          <a:solidFill>
            <a:srgbClr val="3D3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anel 3. Psychological Development"/>
          <p:cNvSpPr/>
          <p:nvPr/>
        </p:nvSpPr>
        <p:spPr>
          <a:xfrm>
            <a:off x="4040440" y="1143000"/>
            <a:ext cx="5800514" cy="4186936"/>
          </a:xfrm>
          <a:prstGeom prst="roundRect">
            <a:avLst>
              <a:gd name="adj" fmla="val 1965"/>
            </a:avLst>
          </a:prstGeom>
          <a:solidFill>
            <a:srgbClr val="FFFFFF"/>
          </a:solidFill>
          <a:ln w="19050">
            <a:solidFill>
              <a:srgbClr val="6A3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eader 3. Psychological Development"/>
          <p:cNvSpPr/>
          <p:nvPr/>
        </p:nvSpPr>
        <p:spPr>
          <a:xfrm>
            <a:off x="4040440" y="1143000"/>
            <a:ext cx="5800514" cy="292608"/>
          </a:xfrm>
          <a:prstGeom prst="roundRect">
            <a:avLst>
              <a:gd name="adj" fmla="val 8000"/>
            </a:avLst>
          </a:prstGeom>
          <a:solidFill>
            <a:srgbClr val="6A3F9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r>
              <a:rPr sz="1250" b="1" i="0">
                <a:solidFill>
                  <a:srgbClr val="FFFFFF"/>
                </a:solidFill>
                <a:latin typeface="Arial"/>
              </a:rPr>
              <a:t>3. Psychological Development</a:t>
            </a:r>
          </a:p>
        </p:txBody>
      </p:sp>
      <p:sp>
        <p:nvSpPr>
          <p:cNvPr id="35" name="3. Psychological Development text"/>
          <p:cNvSpPr txBox="1"/>
          <p:nvPr/>
        </p:nvSpPr>
        <p:spPr>
          <a:xfrm>
            <a:off x="4104448" y="1490472"/>
            <a:ext cx="2860316" cy="3748024"/>
          </a:xfrm>
          <a:prstGeom prst="rect">
            <a:avLst/>
          </a:prstGeom>
          <a:noFill/>
        </p:spPr>
        <p:txBody>
          <a:bodyPr wrap="square" lIns="54864" rIns="54864" tIns="27432" bIns="27432" anchor="t"/>
          <a:lstStyle/>
          <a:p>
            <a:pPr>
              <a:lnSpc>
                <a:spcPct val="100000"/>
              </a:lnSpc>
              <a:spcAft>
                <a:spcPts val="200"/>
              </a:spcAft>
            </a:pPr>
            <a:r>
              <a:rPr sz="950" b="1" i="0">
                <a:solidFill>
                  <a:srgbClr val="6A3F9A"/>
                </a:solidFill>
                <a:latin typeface="Arial"/>
              </a:rPr>
              <a:t>Cognitive development: Piaget</a:t>
            </a:r>
          </a:p>
          <a:p>
            <a:pPr marL="118872" indent="-118872">
              <a:lnSpc>
                <a:spcPct val="100000"/>
              </a:lnSpc>
              <a:spcAft>
                <a:spcPts val="200"/>
              </a:spcAft>
              <a:buClr>
                <a:srgbClr val="6A3F9A"/>
              </a:buClr>
              <a:buFont typeface="Arial"/>
              <a:buChar char="•"/>
            </a:pPr>
            <a:r>
              <a:rPr sz="900" b="1" i="0">
                <a:solidFill>
                  <a:srgbClr val="6A3F9A"/>
                </a:solidFill>
                <a:latin typeface="Arial"/>
              </a:rPr>
              <a:t>Preoperational stage (2-7 years):</a:t>
            </a:r>
            <a:r>
              <a:rPr sz="900" b="0" i="0">
                <a:solidFill>
                  <a:srgbClr val="1F2937"/>
                </a:solidFill>
                <a:latin typeface="Arial"/>
              </a:rPr>
              <a:t> children make use of words and pretend play. They are egocentric in their thinking and hence cannot view the perspective of another person.</a:t>
            </a:r>
          </a:p>
          <a:p>
            <a:pPr marL="118872" indent="-118872">
              <a:lnSpc>
                <a:spcPct val="100000"/>
              </a:lnSpc>
              <a:spcAft>
                <a:spcPts val="200"/>
              </a:spcAft>
              <a:buClr>
                <a:srgbClr val="6A3F9A"/>
              </a:buClr>
              <a:buFont typeface="Arial"/>
              <a:buChar char="•"/>
            </a:pPr>
            <a:r>
              <a:rPr sz="900" b="1" i="0">
                <a:solidFill>
                  <a:srgbClr val="6A3F9A"/>
                </a:solidFill>
                <a:latin typeface="Arial"/>
              </a:rPr>
              <a:t>Concrete operational stage (7-11 years):</a:t>
            </a:r>
            <a:r>
              <a:rPr sz="900" b="0" i="0">
                <a:solidFill>
                  <a:srgbClr val="1F2937"/>
                </a:solidFill>
                <a:latin typeface="Arial"/>
              </a:rPr>
              <a:t> children reason rationally about actual things. They are aware that the same amount of water that was poured into a taller glass remains the same amount (Boyd and Bee, 2019).</a:t>
            </a:r>
          </a:p>
          <a:p>
            <a:pPr marL="118872" indent="-118872">
              <a:lnSpc>
                <a:spcPct val="100000"/>
              </a:lnSpc>
              <a:spcAft>
                <a:spcPts val="200"/>
              </a:spcAft>
              <a:buClr>
                <a:srgbClr val="6A3F9A"/>
              </a:buClr>
              <a:buFont typeface="Arial"/>
              <a:buChar char="•"/>
            </a:pPr>
            <a:r>
              <a:rPr sz="900" b="1" i="0">
                <a:solidFill>
                  <a:srgbClr val="6A3F9A"/>
                </a:solidFill>
                <a:latin typeface="Arial"/>
              </a:rPr>
              <a:t>Critique:</a:t>
            </a:r>
            <a:r>
              <a:rPr sz="900" b="0" i="0">
                <a:solidFill>
                  <a:srgbClr val="1F2937"/>
                </a:solidFill>
                <a:latin typeface="Arial"/>
              </a:rPr>
              <a:t> subsequent studies indicate that children usually accomplish these tasks prior to Piaget (Boyd and Bee, 2019).</a:t>
            </a:r>
          </a:p>
          <a:p>
            <a:pPr>
              <a:lnSpc>
                <a:spcPct val="100000"/>
              </a:lnSpc>
              <a:spcBef>
                <a:spcPts val="300"/>
              </a:spcBef>
              <a:spcAft>
                <a:spcPts val="200"/>
              </a:spcAft>
            </a:pPr>
            <a:r>
              <a:rPr sz="950" b="1" i="0">
                <a:solidFill>
                  <a:srgbClr val="6A3F9A"/>
                </a:solidFill>
                <a:latin typeface="Arial"/>
              </a:rPr>
              <a:t>Emotional and psychosocial development: Erikson</a:t>
            </a:r>
          </a:p>
          <a:p>
            <a:pPr marL="118872" indent="-118872">
              <a:lnSpc>
                <a:spcPct val="100000"/>
              </a:lnSpc>
              <a:spcAft>
                <a:spcPts val="200"/>
              </a:spcAft>
              <a:buClr>
                <a:srgbClr val="6A3F9A"/>
              </a:buClr>
              <a:buFont typeface="Arial"/>
              <a:buChar char="•"/>
            </a:pPr>
            <a:r>
              <a:rPr sz="900" b="1" i="0">
                <a:solidFill>
                  <a:srgbClr val="6A3F9A"/>
                </a:solidFill>
                <a:latin typeface="Arial"/>
              </a:rPr>
              <a:t>Initiative vs guilt (3 to 6 years):</a:t>
            </a:r>
            <a:r>
              <a:rPr sz="900" b="0" i="0">
                <a:solidFill>
                  <a:srgbClr val="1F2937"/>
                </a:solidFill>
                <a:latin typeface="Arial"/>
              </a:rPr>
              <a:t> children experiment. Criticism and harshness can lead to guilt.</a:t>
            </a:r>
          </a:p>
          <a:p>
            <a:pPr marL="118872" indent="-118872">
              <a:lnSpc>
                <a:spcPct val="100000"/>
              </a:lnSpc>
              <a:spcAft>
                <a:spcPts val="200"/>
              </a:spcAft>
              <a:buClr>
                <a:srgbClr val="6A3F9A"/>
              </a:buClr>
              <a:buFont typeface="Arial"/>
              <a:buChar char="•"/>
            </a:pPr>
            <a:r>
              <a:rPr sz="900" b="1" i="0">
                <a:solidFill>
                  <a:srgbClr val="6A3F9A"/>
                </a:solidFill>
                <a:latin typeface="Arial"/>
              </a:rPr>
              <a:t>Industry vs. inferiority (6 to 12 years):</a:t>
            </a:r>
            <a:r>
              <a:rPr sz="900" b="0" i="0">
                <a:solidFill>
                  <a:srgbClr val="1F2937"/>
                </a:solidFill>
                <a:latin typeface="Arial"/>
              </a:rPr>
              <a:t> skill mastery is a source of pride. Constant failure can lead to less ability on the part of the children (Feldman, 2011).</a:t>
            </a:r>
          </a:p>
          <a:p>
            <a:pPr marL="118872" indent="-118872">
              <a:lnSpc>
                <a:spcPct val="100000"/>
              </a:lnSpc>
              <a:spcAft>
                <a:spcPts val="200"/>
              </a:spcAft>
              <a:buClr>
                <a:srgbClr val="6A3F9A"/>
              </a:buClr>
              <a:buFont typeface="Arial"/>
              <a:buChar char="•"/>
            </a:pPr>
            <a:r>
              <a:rPr sz="900" b="0" i="0">
                <a:solidFill>
                  <a:srgbClr val="1F2937"/>
                </a:solidFill>
                <a:latin typeface="Arial"/>
              </a:rPr>
              <a:t>Children also get to know that other people think and feel differently. It is referred to as the </a:t>
            </a:r>
            <a:r>
              <a:rPr sz="900" b="1" i="0">
                <a:solidFill>
                  <a:srgbClr val="6A3F9A"/>
                </a:solidFill>
                <a:latin typeface="Arial"/>
              </a:rPr>
              <a:t>theory of mind</a:t>
            </a:r>
            <a:r>
              <a:rPr sz="900" b="0" i="0">
                <a:solidFill>
                  <a:srgbClr val="1F2937"/>
                </a:solidFill>
                <a:latin typeface="Arial"/>
              </a:rPr>
              <a:t> (Boyd and Bee, 2019).</a:t>
            </a:r>
          </a:p>
        </p:txBody>
      </p:sp>
      <p:sp>
        <p:nvSpPr>
          <p:cNvPr id="36" name="Rounded Rectangle 35"/>
          <p:cNvSpPr/>
          <p:nvPr/>
        </p:nvSpPr>
        <p:spPr>
          <a:xfrm>
            <a:off x="7403677" y="1517904"/>
            <a:ext cx="621792" cy="640080"/>
          </a:xfrm>
          <a:prstGeom prst="roundRect">
            <a:avLst>
              <a:gd name="adj" fmla="val 8000"/>
            </a:avLst>
          </a:prstGeom>
          <a:solidFill>
            <a:srgbClr val="6A3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00" b="1" i="0">
                <a:solidFill>
                  <a:srgbClr val="FFFFFF"/>
                </a:solidFill>
                <a:latin typeface="Arial"/>
              </a:rPr>
              <a:t>Piaget</a:t>
            </a:r>
          </a:p>
          <a:p>
            <a:pPr algn="ctr"/>
            <a:r>
              <a:rPr sz="700" b="0" i="0">
                <a:solidFill>
                  <a:srgbClr val="FFFFFF"/>
                </a:solidFill>
                <a:latin typeface="Arial"/>
              </a:rPr>
              <a:t>thinking</a:t>
            </a:r>
          </a:p>
        </p:txBody>
      </p:sp>
      <p:sp>
        <p:nvSpPr>
          <p:cNvPr id="37" name="Rectangle 36"/>
          <p:cNvSpPr/>
          <p:nvPr/>
        </p:nvSpPr>
        <p:spPr>
          <a:xfrm>
            <a:off x="8080333" y="1517904"/>
            <a:ext cx="802587" cy="640080"/>
          </a:xfrm>
          <a:prstGeom prst="rect">
            <a:avLst/>
          </a:prstGeom>
          <a:solidFill>
            <a:srgbClr val="C9B6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 rIns="13716" tIns="9144" bIns="9144"/>
          <a:lstStyle/>
          <a:p>
            <a:pPr algn="ctr"/>
            <a:r>
              <a:rPr sz="680" b="1" i="0">
                <a:solidFill>
                  <a:srgbClr val="1F2937"/>
                </a:solidFill>
                <a:latin typeface="Arial"/>
              </a:rPr>
              <a:t>Preoperational</a:t>
            </a:r>
          </a:p>
          <a:p>
            <a:pPr algn="ctr"/>
            <a:r>
              <a:rPr sz="680" b="0" i="0">
                <a:solidFill>
                  <a:srgbClr val="1F2937"/>
                </a:solidFill>
                <a:latin typeface="Arial"/>
              </a:rPr>
              <a:t>(2-7 years)</a:t>
            </a:r>
          </a:p>
        </p:txBody>
      </p:sp>
      <p:sp>
        <p:nvSpPr>
          <p:cNvPr id="38" name="Rectangle 37"/>
          <p:cNvSpPr/>
          <p:nvPr/>
        </p:nvSpPr>
        <p:spPr>
          <a:xfrm>
            <a:off x="8901208" y="1517904"/>
            <a:ext cx="638412" cy="640080"/>
          </a:xfrm>
          <a:prstGeom prst="rect">
            <a:avLst/>
          </a:prstGeom>
          <a:solidFill>
            <a:srgbClr val="6A3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 rIns="13716" tIns="9144" bIns="9144"/>
          <a:lstStyle/>
          <a:p>
            <a:pPr algn="ctr"/>
            <a:r>
              <a:rPr sz="680" b="1" i="0">
                <a:solidFill>
                  <a:srgbClr val="FFFFFF"/>
                </a:solidFill>
                <a:latin typeface="Arial"/>
              </a:rPr>
              <a:t>Concrete operational</a:t>
            </a:r>
          </a:p>
          <a:p>
            <a:pPr algn="ctr"/>
            <a:r>
              <a:rPr sz="680" b="0" i="0">
                <a:solidFill>
                  <a:srgbClr val="FFFFFF"/>
                </a:solidFill>
                <a:latin typeface="Arial"/>
              </a:rPr>
              <a:t>(7-11 years)</a:t>
            </a:r>
          </a:p>
        </p:txBody>
      </p:sp>
      <p:sp>
        <p:nvSpPr>
          <p:cNvPr id="39" name="Rounded Rectangle 38"/>
          <p:cNvSpPr/>
          <p:nvPr/>
        </p:nvSpPr>
        <p:spPr>
          <a:xfrm>
            <a:off x="7403677" y="2231136"/>
            <a:ext cx="621792" cy="640080"/>
          </a:xfrm>
          <a:prstGeom prst="roundRect">
            <a:avLst>
              <a:gd name="adj" fmla="val 8000"/>
            </a:avLst>
          </a:prstGeom>
          <a:solidFill>
            <a:srgbClr val="6A3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00" b="1" i="0">
                <a:solidFill>
                  <a:srgbClr val="FFFFFF"/>
                </a:solidFill>
                <a:latin typeface="Arial"/>
              </a:rPr>
              <a:t>Erikson</a:t>
            </a:r>
          </a:p>
          <a:p>
            <a:pPr algn="ctr"/>
            <a:r>
              <a:rPr sz="700" b="0" i="0">
                <a:solidFill>
                  <a:srgbClr val="FFFFFF"/>
                </a:solidFill>
                <a:latin typeface="Arial"/>
              </a:rPr>
              <a:t>emotions and social life</a:t>
            </a:r>
          </a:p>
        </p:txBody>
      </p:sp>
      <p:sp>
        <p:nvSpPr>
          <p:cNvPr id="40" name="Rectangle 39"/>
          <p:cNvSpPr/>
          <p:nvPr/>
        </p:nvSpPr>
        <p:spPr>
          <a:xfrm>
            <a:off x="8244508" y="2231136"/>
            <a:ext cx="474237" cy="640080"/>
          </a:xfrm>
          <a:prstGeom prst="rect">
            <a:avLst/>
          </a:prstGeom>
          <a:solidFill>
            <a:srgbClr val="F3C6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 rIns="13716" tIns="9144" bIns="9144"/>
          <a:lstStyle/>
          <a:p>
            <a:pPr algn="ctr"/>
            <a:r>
              <a:rPr sz="680" b="1" i="0">
                <a:solidFill>
                  <a:srgbClr val="1F2937"/>
                </a:solidFill>
                <a:latin typeface="Arial"/>
              </a:rPr>
              <a:t>Initiative vs guilt</a:t>
            </a:r>
          </a:p>
          <a:p>
            <a:pPr algn="ctr"/>
            <a:r>
              <a:rPr sz="680" b="0" i="0">
                <a:solidFill>
                  <a:srgbClr val="1F2937"/>
                </a:solidFill>
                <a:latin typeface="Arial"/>
              </a:rPr>
              <a:t>(3 to 6 years)</a:t>
            </a:r>
          </a:p>
        </p:txBody>
      </p:sp>
      <p:sp>
        <p:nvSpPr>
          <p:cNvPr id="41" name="Rectangle 40"/>
          <p:cNvSpPr/>
          <p:nvPr/>
        </p:nvSpPr>
        <p:spPr>
          <a:xfrm>
            <a:off x="8737033" y="2231136"/>
            <a:ext cx="966762" cy="640080"/>
          </a:xfrm>
          <a:prstGeom prst="rect">
            <a:avLst/>
          </a:prstGeom>
          <a:solidFill>
            <a:srgbClr val="8E3B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 rIns="13716" tIns="9144" bIns="9144"/>
          <a:lstStyle/>
          <a:p>
            <a:pPr algn="ctr"/>
            <a:r>
              <a:rPr sz="680" b="1" i="0">
                <a:solidFill>
                  <a:srgbClr val="FFFFFF"/>
                </a:solidFill>
                <a:latin typeface="Arial"/>
              </a:rPr>
              <a:t>Industry vs. inferiority</a:t>
            </a:r>
          </a:p>
          <a:p>
            <a:pPr algn="ctr"/>
            <a:r>
              <a:rPr sz="680" b="0" i="0">
                <a:solidFill>
                  <a:srgbClr val="FFFFFF"/>
                </a:solidFill>
                <a:latin typeface="Arial"/>
              </a:rPr>
              <a:t>(6 to 12 years)</a:t>
            </a:r>
          </a:p>
        </p:txBody>
      </p:sp>
      <p:cxnSp>
        <p:nvCxnSpPr>
          <p:cNvPr id="42" name="Connector 41"/>
          <p:cNvCxnSpPr/>
          <p:nvPr/>
        </p:nvCxnSpPr>
        <p:spPr>
          <a:xfrm>
            <a:off x="8071189" y="2962656"/>
            <a:ext cx="1641750" cy="0"/>
          </a:xfrm>
          <a:prstGeom prst="line">
            <a:avLst/>
          </a:prstGeom>
          <a:ln w="9525">
            <a:solidFill>
              <a:srgbClr val="6B728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888309" y="2971800"/>
            <a:ext cx="365760" cy="146304"/>
          </a:xfrm>
          <a:prstGeom prst="rect">
            <a:avLst/>
          </a:prstGeom>
          <a:noFill/>
        </p:spPr>
        <p:txBody>
          <a:bodyPr wrap="square" lIns="0" rIns="0" tIns="0" bIns="0" anchor="t"/>
          <a:lstStyle/>
          <a:p>
            <a:pPr algn="ctr"/>
            <a:r>
              <a:rPr sz="700" b="0" i="0">
                <a:solidFill>
                  <a:srgbClr val="4B5563"/>
                </a:solidFill>
                <a:latin typeface="Arial"/>
              </a:rPr>
              <a:t>2</a:t>
            </a:r>
          </a:p>
        </p:txBody>
      </p:sp>
      <p:sp>
        <p:nvSpPr>
          <p:cNvPr id="44" name="TextBox 43"/>
          <p:cNvSpPr txBox="1"/>
          <p:nvPr/>
        </p:nvSpPr>
        <p:spPr>
          <a:xfrm>
            <a:off x="8216659" y="2971800"/>
            <a:ext cx="365760" cy="146304"/>
          </a:xfrm>
          <a:prstGeom prst="rect">
            <a:avLst/>
          </a:prstGeom>
          <a:noFill/>
        </p:spPr>
        <p:txBody>
          <a:bodyPr wrap="square" lIns="0" rIns="0" tIns="0" bIns="0" anchor="t"/>
          <a:lstStyle/>
          <a:p>
            <a:pPr algn="ctr"/>
            <a:r>
              <a:rPr sz="700" b="0" i="0">
                <a:solidFill>
                  <a:srgbClr val="4B5563"/>
                </a:solidFill>
                <a:latin typeface="Arial"/>
              </a:rPr>
              <a:t>4</a:t>
            </a:r>
          </a:p>
        </p:txBody>
      </p:sp>
      <p:sp>
        <p:nvSpPr>
          <p:cNvPr id="45" name="TextBox 44"/>
          <p:cNvSpPr txBox="1"/>
          <p:nvPr/>
        </p:nvSpPr>
        <p:spPr>
          <a:xfrm>
            <a:off x="8545009" y="2971800"/>
            <a:ext cx="365760" cy="146304"/>
          </a:xfrm>
          <a:prstGeom prst="rect">
            <a:avLst/>
          </a:prstGeom>
          <a:noFill/>
        </p:spPr>
        <p:txBody>
          <a:bodyPr wrap="square" lIns="0" rIns="0" tIns="0" bIns="0" anchor="t"/>
          <a:lstStyle/>
          <a:p>
            <a:pPr algn="ctr"/>
            <a:r>
              <a:rPr sz="700" b="0" i="0">
                <a:solidFill>
                  <a:srgbClr val="4B5563"/>
                </a:solidFill>
                <a:latin typeface="Arial"/>
              </a:rPr>
              <a:t>6</a:t>
            </a:r>
          </a:p>
        </p:txBody>
      </p:sp>
      <p:sp>
        <p:nvSpPr>
          <p:cNvPr id="46" name="TextBox 45"/>
          <p:cNvSpPr txBox="1"/>
          <p:nvPr/>
        </p:nvSpPr>
        <p:spPr>
          <a:xfrm>
            <a:off x="8873359" y="2971800"/>
            <a:ext cx="365760" cy="146304"/>
          </a:xfrm>
          <a:prstGeom prst="rect">
            <a:avLst/>
          </a:prstGeom>
          <a:noFill/>
        </p:spPr>
        <p:txBody>
          <a:bodyPr wrap="square" lIns="0" rIns="0" tIns="0" bIns="0" anchor="t"/>
          <a:lstStyle/>
          <a:p>
            <a:pPr algn="ctr"/>
            <a:r>
              <a:rPr sz="700" b="0" i="0">
                <a:solidFill>
                  <a:srgbClr val="4B5563"/>
                </a:solidFill>
                <a:latin typeface="Arial"/>
              </a:rPr>
              <a:t>8</a:t>
            </a:r>
          </a:p>
        </p:txBody>
      </p:sp>
      <p:sp>
        <p:nvSpPr>
          <p:cNvPr id="47" name="TextBox 46"/>
          <p:cNvSpPr txBox="1"/>
          <p:nvPr/>
        </p:nvSpPr>
        <p:spPr>
          <a:xfrm>
            <a:off x="9201709" y="2971800"/>
            <a:ext cx="365760" cy="146304"/>
          </a:xfrm>
          <a:prstGeom prst="rect">
            <a:avLst/>
          </a:prstGeom>
          <a:noFill/>
        </p:spPr>
        <p:txBody>
          <a:bodyPr wrap="square" lIns="0" rIns="0" tIns="0" bIns="0" anchor="t"/>
          <a:lstStyle/>
          <a:p>
            <a:pPr algn="ctr"/>
            <a:r>
              <a:rPr sz="700" b="0" i="0">
                <a:solidFill>
                  <a:srgbClr val="4B5563"/>
                </a:solidFill>
                <a:latin typeface="Arial"/>
              </a:rPr>
              <a:t>10</a:t>
            </a:r>
          </a:p>
        </p:txBody>
      </p:sp>
      <p:sp>
        <p:nvSpPr>
          <p:cNvPr id="48" name="TextBox 47"/>
          <p:cNvSpPr txBox="1"/>
          <p:nvPr/>
        </p:nvSpPr>
        <p:spPr>
          <a:xfrm>
            <a:off x="9530059" y="2971800"/>
            <a:ext cx="365760" cy="146304"/>
          </a:xfrm>
          <a:prstGeom prst="rect">
            <a:avLst/>
          </a:prstGeom>
          <a:noFill/>
        </p:spPr>
        <p:txBody>
          <a:bodyPr wrap="square" lIns="0" rIns="0" tIns="0" bIns="0" anchor="t"/>
          <a:lstStyle/>
          <a:p>
            <a:pPr algn="ctr"/>
            <a:r>
              <a:rPr sz="700" b="0" i="0">
                <a:solidFill>
                  <a:srgbClr val="4B5563"/>
                </a:solidFill>
                <a:latin typeface="Arial"/>
              </a:rPr>
              <a:t>12</a:t>
            </a:r>
          </a:p>
        </p:txBody>
      </p:sp>
      <p:sp>
        <p:nvSpPr>
          <p:cNvPr id="49" name="TextBox 48"/>
          <p:cNvSpPr txBox="1"/>
          <p:nvPr/>
        </p:nvSpPr>
        <p:spPr>
          <a:xfrm>
            <a:off x="7403677" y="2971800"/>
            <a:ext cx="566928" cy="146304"/>
          </a:xfrm>
          <a:prstGeom prst="rect">
            <a:avLst/>
          </a:prstGeom>
          <a:noFill/>
        </p:spPr>
        <p:txBody>
          <a:bodyPr wrap="square" lIns="0" rIns="0" tIns="0" bIns="0" anchor="t"/>
          <a:lstStyle/>
          <a:p>
            <a:pPr algn="r"/>
            <a:r>
              <a:rPr sz="700" b="0" i="1">
                <a:solidFill>
                  <a:srgbClr val="4B5563"/>
                </a:solidFill>
                <a:latin typeface="Arial"/>
              </a:rPr>
              <a:t>Age (years)</a:t>
            </a:r>
          </a:p>
        </p:txBody>
      </p:sp>
      <p:sp>
        <p:nvSpPr>
          <p:cNvPr id="50" name="TextBox 49"/>
          <p:cNvSpPr txBox="1"/>
          <p:nvPr/>
        </p:nvSpPr>
        <p:spPr>
          <a:xfrm>
            <a:off x="7385389" y="3172968"/>
            <a:ext cx="2391558" cy="182880"/>
          </a:xfrm>
          <a:prstGeom prst="rect">
            <a:avLst/>
          </a:prstGeom>
          <a:noFill/>
        </p:spPr>
        <p:txBody>
          <a:bodyPr wrap="square" lIns="36576" rIns="36576" tIns="0" bIns="0" anchor="t"/>
          <a:lstStyle/>
          <a:p>
            <a:pPr algn="l"/>
            <a:r>
              <a:rPr sz="850" b="1" i="0">
                <a:solidFill>
                  <a:srgbClr val="6A3F9A"/>
                </a:solidFill>
                <a:latin typeface="Arial"/>
              </a:rPr>
              <a:t>Figure 2. </a:t>
            </a:r>
            <a:r>
              <a:rPr sz="850" b="0" i="1">
                <a:solidFill>
                  <a:srgbClr val="B42318"/>
                </a:solidFill>
                <a:latin typeface="Arial"/>
              </a:rPr>
              <a:t>[MISSING: caption for Figure 2] </a:t>
            </a:r>
            <a:r>
              <a:rPr sz="850" b="0" i="0">
                <a:solidFill>
                  <a:srgbClr val="4B5563"/>
                </a:solidFill>
                <a:latin typeface="Arial"/>
              </a:rPr>
              <a:t>(Boyd and Bee, 2019; Feldman, 2011)</a:t>
            </a:r>
          </a:p>
        </p:txBody>
      </p:sp>
      <p:sp>
        <p:nvSpPr>
          <p:cNvPr id="51" name="3. Psychological Development text"/>
          <p:cNvSpPr txBox="1"/>
          <p:nvPr/>
        </p:nvSpPr>
        <p:spPr>
          <a:xfrm>
            <a:off x="7385389" y="3429000"/>
            <a:ext cx="2391558" cy="1373124"/>
          </a:xfrm>
          <a:prstGeom prst="rect">
            <a:avLst/>
          </a:prstGeom>
          <a:noFill/>
        </p:spPr>
        <p:txBody>
          <a:bodyPr wrap="square" lIns="54864" rIns="54864" tIns="27432" bIns="27432" anchor="t"/>
          <a:lstStyle/>
          <a:p>
            <a:pPr>
              <a:lnSpc>
                <a:spcPct val="100000"/>
              </a:lnSpc>
              <a:spcAft>
                <a:spcPts val="200"/>
              </a:spcAft>
            </a:pPr>
            <a:r>
              <a:rPr sz="950" b="1" i="0">
                <a:solidFill>
                  <a:srgbClr val="6A3F9A"/>
                </a:solidFill>
                <a:latin typeface="Arial"/>
              </a:rPr>
              <a:t>Comparing the theories</a:t>
            </a:r>
          </a:p>
          <a:p>
            <a:pPr marL="118872" indent="-118872">
              <a:lnSpc>
                <a:spcPct val="100000"/>
              </a:lnSpc>
              <a:spcAft>
                <a:spcPts val="200"/>
              </a:spcAft>
              <a:buClr>
                <a:srgbClr val="6A3F9A"/>
              </a:buClr>
              <a:buFont typeface="Arial"/>
              <a:buChar char="•"/>
            </a:pPr>
            <a:r>
              <a:rPr sz="900" b="0" i="0">
                <a:solidFill>
                  <a:srgbClr val="1F2937"/>
                </a:solidFill>
                <a:latin typeface="Arial"/>
              </a:rPr>
              <a:t>Piaget is concerned with </a:t>
            </a:r>
            <a:r>
              <a:rPr sz="900" b="1" i="0">
                <a:solidFill>
                  <a:srgbClr val="6A3F9A"/>
                </a:solidFill>
                <a:latin typeface="Arial"/>
              </a:rPr>
              <a:t>thinking</a:t>
            </a:r>
            <a:r>
              <a:rPr sz="900" b="0" i="0">
                <a:solidFill>
                  <a:srgbClr val="1F2937"/>
                </a:solidFill>
                <a:latin typeface="Arial"/>
              </a:rPr>
              <a:t>. Erikson is concerned with </a:t>
            </a:r>
            <a:r>
              <a:rPr sz="900" b="1" i="0">
                <a:solidFill>
                  <a:srgbClr val="6A3F9A"/>
                </a:solidFill>
                <a:latin typeface="Arial"/>
              </a:rPr>
              <a:t>emotions and social life</a:t>
            </a:r>
            <a:r>
              <a:rPr sz="900" b="0" i="0">
                <a:solidFill>
                  <a:srgbClr val="1F2937"/>
                </a:solidFill>
                <a:latin typeface="Arial"/>
              </a:rPr>
              <a:t>.</a:t>
            </a:r>
          </a:p>
          <a:p>
            <a:pPr marL="118872" indent="-118872">
              <a:lnSpc>
                <a:spcPct val="100000"/>
              </a:lnSpc>
              <a:spcAft>
                <a:spcPts val="200"/>
              </a:spcAft>
              <a:buClr>
                <a:srgbClr val="6A3F9A"/>
              </a:buClr>
              <a:buFont typeface="Arial"/>
              <a:buChar char="•"/>
            </a:pPr>
            <a:r>
              <a:rPr sz="900" b="1" i="0">
                <a:solidFill>
                  <a:srgbClr val="6A3F9A"/>
                </a:solidFill>
                <a:latin typeface="Arial"/>
              </a:rPr>
              <a:t>Mutual principles:</a:t>
            </a:r>
            <a:r>
              <a:rPr sz="900" b="0" i="0">
                <a:solidFill>
                  <a:srgbClr val="1F2937"/>
                </a:solidFill>
                <a:latin typeface="Arial"/>
              </a:rPr>
              <a:t> they are both based on stages of age, both treat the child as an active person, and both accept that the environment influences progress (Boyd and Bee, 2019).</a:t>
            </a:r>
          </a:p>
        </p:txBody>
      </p:sp>
      <p:sp>
        <p:nvSpPr>
          <p:cNvPr id="52" name="Panel 4. Sociological Development"/>
          <p:cNvSpPr/>
          <p:nvPr/>
        </p:nvSpPr>
        <p:spPr>
          <a:xfrm>
            <a:off x="4040440" y="5567680"/>
            <a:ext cx="5800514" cy="3416299"/>
          </a:xfrm>
          <a:prstGeom prst="roundRect">
            <a:avLst>
              <a:gd name="adj" fmla="val 2408"/>
            </a:avLst>
          </a:prstGeom>
          <a:solidFill>
            <a:srgbClr val="FFFFFF"/>
          </a:solidFill>
          <a:ln w="19050">
            <a:solidFill>
              <a:srgbClr val="B44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Header 4. Sociological Development"/>
          <p:cNvSpPr/>
          <p:nvPr/>
        </p:nvSpPr>
        <p:spPr>
          <a:xfrm>
            <a:off x="4040440" y="5567680"/>
            <a:ext cx="5800514" cy="292608"/>
          </a:xfrm>
          <a:prstGeom prst="roundRect">
            <a:avLst>
              <a:gd name="adj" fmla="val 8000"/>
            </a:avLst>
          </a:prstGeom>
          <a:solidFill>
            <a:srgbClr val="B4462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r>
              <a:rPr sz="1250" b="1" i="0">
                <a:solidFill>
                  <a:srgbClr val="FFFFFF"/>
                </a:solidFill>
                <a:latin typeface="Arial"/>
              </a:rPr>
              <a:t>4. Sociological Development</a:t>
            </a:r>
          </a:p>
        </p:txBody>
      </p:sp>
      <p:sp>
        <p:nvSpPr>
          <p:cNvPr id="54" name="4. Sociological Development text"/>
          <p:cNvSpPr txBox="1"/>
          <p:nvPr/>
        </p:nvSpPr>
        <p:spPr>
          <a:xfrm>
            <a:off x="4104448" y="5915152"/>
            <a:ext cx="2860316" cy="1906524"/>
          </a:xfrm>
          <a:prstGeom prst="rect">
            <a:avLst/>
          </a:prstGeom>
          <a:noFill/>
        </p:spPr>
        <p:txBody>
          <a:bodyPr wrap="square" lIns="54864" rIns="54864" tIns="27432" bIns="27432" anchor="t"/>
          <a:lstStyle/>
          <a:p>
            <a:pPr>
              <a:lnSpc>
                <a:spcPct val="100000"/>
              </a:lnSpc>
              <a:spcAft>
                <a:spcPts val="200"/>
              </a:spcAft>
            </a:pPr>
            <a:r>
              <a:rPr sz="950" b="1" i="0">
                <a:solidFill>
                  <a:srgbClr val="B4462B"/>
                </a:solidFill>
                <a:latin typeface="Arial"/>
              </a:rPr>
              <a:t>Family</a:t>
            </a:r>
          </a:p>
          <a:p>
            <a:pPr marL="118872" indent="-118872">
              <a:lnSpc>
                <a:spcPct val="100000"/>
              </a:lnSpc>
              <a:spcAft>
                <a:spcPts val="200"/>
              </a:spcAft>
              <a:buClr>
                <a:srgbClr val="B4462B"/>
              </a:buClr>
              <a:buFont typeface="Arial"/>
              <a:buChar char="•"/>
            </a:pPr>
            <a:r>
              <a:rPr sz="900" b="0" i="0">
                <a:solidFill>
                  <a:srgbClr val="1F2937"/>
                </a:solidFill>
                <a:latin typeface="Arial"/>
              </a:rPr>
              <a:t>The initial teachers of rules, values and language are parents.</a:t>
            </a:r>
          </a:p>
          <a:p>
            <a:pPr marL="118872" indent="-118872">
              <a:lnSpc>
                <a:spcPct val="100000"/>
              </a:lnSpc>
              <a:spcAft>
                <a:spcPts val="200"/>
              </a:spcAft>
              <a:buClr>
                <a:srgbClr val="B4462B"/>
              </a:buClr>
              <a:buFont typeface="Arial"/>
              <a:buChar char="•"/>
            </a:pPr>
            <a:r>
              <a:rPr sz="900" b="0" i="0">
                <a:solidFill>
                  <a:srgbClr val="1F2937"/>
                </a:solidFill>
                <a:latin typeface="Arial"/>
              </a:rPr>
              <a:t>Early </a:t>
            </a:r>
            <a:r>
              <a:rPr sz="900" b="1" i="0">
                <a:solidFill>
                  <a:srgbClr val="B4462B"/>
                </a:solidFill>
                <a:latin typeface="Arial"/>
              </a:rPr>
              <a:t>secure attachment</a:t>
            </a:r>
            <a:r>
              <a:rPr sz="900" b="0" i="0">
                <a:solidFill>
                  <a:srgbClr val="1F2937"/>
                </a:solidFill>
                <a:latin typeface="Arial"/>
              </a:rPr>
              <a:t> is associated with improved peer social skills. A review of 80 samples (4,441 children) found this link (Groh et al., 2014).</a:t>
            </a:r>
          </a:p>
          <a:p>
            <a:pPr>
              <a:lnSpc>
                <a:spcPct val="100000"/>
              </a:lnSpc>
              <a:spcBef>
                <a:spcPts val="300"/>
              </a:spcBef>
              <a:spcAft>
                <a:spcPts val="200"/>
              </a:spcAft>
            </a:pPr>
            <a:r>
              <a:rPr sz="950" b="1" i="0">
                <a:solidFill>
                  <a:srgbClr val="B4462B"/>
                </a:solidFill>
                <a:latin typeface="Arial"/>
              </a:rPr>
              <a:t>Play</a:t>
            </a:r>
          </a:p>
          <a:p>
            <a:pPr marL="118872" indent="-118872">
              <a:lnSpc>
                <a:spcPct val="100000"/>
              </a:lnSpc>
              <a:spcAft>
                <a:spcPts val="200"/>
              </a:spcAft>
              <a:buClr>
                <a:srgbClr val="B4462B"/>
              </a:buClr>
              <a:buFont typeface="Arial"/>
              <a:buChar char="•"/>
            </a:pPr>
            <a:r>
              <a:rPr sz="900" b="0" i="0">
                <a:solidFill>
                  <a:srgbClr val="1F2937"/>
                </a:solidFill>
                <a:latin typeface="Arial"/>
              </a:rPr>
              <a:t>Play transitions to individual to parallel and cooperative play with common objectives (Boyd and Bee, 2019).</a:t>
            </a:r>
          </a:p>
          <a:p>
            <a:pPr marL="118872" indent="-118872">
              <a:lnSpc>
                <a:spcPct val="100000"/>
              </a:lnSpc>
              <a:spcAft>
                <a:spcPts val="200"/>
              </a:spcAft>
              <a:buClr>
                <a:srgbClr val="B4462B"/>
              </a:buClr>
              <a:buFont typeface="Arial"/>
              <a:buChar char="•"/>
            </a:pPr>
            <a:r>
              <a:rPr sz="900" b="0" i="0">
                <a:solidFill>
                  <a:srgbClr val="1F2937"/>
                </a:solidFill>
                <a:latin typeface="Arial"/>
              </a:rPr>
              <a:t>Children also learn to share, take turns and resolve arguments through play.</a:t>
            </a:r>
          </a:p>
        </p:txBody>
      </p:sp>
      <p:sp>
        <p:nvSpPr>
          <p:cNvPr id="55" name="Rounded Rectangle 54"/>
          <p:cNvSpPr/>
          <p:nvPr/>
        </p:nvSpPr>
        <p:spPr>
          <a:xfrm>
            <a:off x="7403677" y="5942584"/>
            <a:ext cx="650882" cy="1143000"/>
          </a:xfrm>
          <a:prstGeom prst="roundRect">
            <a:avLst>
              <a:gd name="adj" fmla="val 8000"/>
            </a:avLst>
          </a:prstGeom>
          <a:solidFill>
            <a:srgbClr val="FBEBE6"/>
          </a:solidFill>
          <a:ln w="9525">
            <a:solidFill>
              <a:srgbClr val="B44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619390" y="6034023"/>
            <a:ext cx="130759" cy="130759"/>
          </a:xfrm>
          <a:prstGeom prst="ellipse">
            <a:avLst/>
          </a:prstGeom>
          <a:solidFill>
            <a:srgbClr val="B44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 Same Side Corner Rectangle 56"/>
          <p:cNvSpPr/>
          <p:nvPr/>
        </p:nvSpPr>
        <p:spPr>
          <a:xfrm>
            <a:off x="7595616" y="6176670"/>
            <a:ext cx="178308" cy="142646"/>
          </a:xfrm>
          <a:prstGeom prst="round2SameRect">
            <a:avLst/>
          </a:prstGeom>
          <a:solidFill>
            <a:srgbClr val="B44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820558" y="6235191"/>
            <a:ext cx="118872" cy="118872"/>
          </a:xfrm>
          <a:prstGeom prst="rect">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03677" y="6399784"/>
            <a:ext cx="650882" cy="640080"/>
          </a:xfrm>
          <a:prstGeom prst="rect">
            <a:avLst/>
          </a:prstGeom>
          <a:noFill/>
        </p:spPr>
        <p:txBody>
          <a:bodyPr wrap="square" lIns="18288" rIns="18288" tIns="0" bIns="0" anchor="ctr"/>
          <a:lstStyle/>
          <a:p>
            <a:pPr algn="ctr"/>
            <a:r>
              <a:rPr sz="750" b="1" i="0">
                <a:solidFill>
                  <a:srgbClr val="B4462B"/>
                </a:solidFill>
                <a:latin typeface="Arial"/>
              </a:rPr>
              <a:t>Individual play</a:t>
            </a:r>
          </a:p>
        </p:txBody>
      </p:sp>
      <p:sp>
        <p:nvSpPr>
          <p:cNvPr id="60" name="Right Arrow 59"/>
          <p:cNvSpPr/>
          <p:nvPr/>
        </p:nvSpPr>
        <p:spPr>
          <a:xfrm>
            <a:off x="8081991" y="6431788"/>
            <a:ext cx="146304" cy="164592"/>
          </a:xfrm>
          <a:prstGeom prst="rightArrow">
            <a:avLst/>
          </a:prstGeom>
          <a:solidFill>
            <a:srgbClr val="B44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8255727" y="5942584"/>
            <a:ext cx="650882" cy="1143000"/>
          </a:xfrm>
          <a:prstGeom prst="roundRect">
            <a:avLst>
              <a:gd name="adj" fmla="val 8000"/>
            </a:avLst>
          </a:prstGeom>
          <a:solidFill>
            <a:srgbClr val="FBEBE6"/>
          </a:solidFill>
          <a:ln w="9525">
            <a:solidFill>
              <a:srgbClr val="B44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297704" y="6034023"/>
            <a:ext cx="130759" cy="130759"/>
          </a:xfrm>
          <a:prstGeom prst="ellipse">
            <a:avLst/>
          </a:prstGeom>
          <a:solidFill>
            <a:srgbClr val="B44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 Same Side Corner Rectangle 62"/>
          <p:cNvSpPr/>
          <p:nvPr/>
        </p:nvSpPr>
        <p:spPr>
          <a:xfrm>
            <a:off x="8273930" y="6176670"/>
            <a:ext cx="178308" cy="142646"/>
          </a:xfrm>
          <a:prstGeom prst="round2SameRect">
            <a:avLst/>
          </a:prstGeom>
          <a:solidFill>
            <a:srgbClr val="B44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471440" y="6253480"/>
            <a:ext cx="73152" cy="73152"/>
          </a:xfrm>
          <a:prstGeom prst="rect">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672608" y="6034023"/>
            <a:ext cx="130759" cy="130759"/>
          </a:xfrm>
          <a:prstGeom prst="ellipse">
            <a:avLst/>
          </a:prstGeom>
          <a:solidFill>
            <a:srgbClr val="B44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 Same Side Corner Rectangle 65"/>
          <p:cNvSpPr/>
          <p:nvPr/>
        </p:nvSpPr>
        <p:spPr>
          <a:xfrm>
            <a:off x="8648834" y="6176670"/>
            <a:ext cx="178308" cy="142646"/>
          </a:xfrm>
          <a:prstGeom prst="round2SameRect">
            <a:avLst/>
          </a:prstGeom>
          <a:solidFill>
            <a:srgbClr val="B44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846344" y="6253480"/>
            <a:ext cx="73152" cy="73152"/>
          </a:xfrm>
          <a:prstGeom prst="rect">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255727" y="6399784"/>
            <a:ext cx="650882" cy="640080"/>
          </a:xfrm>
          <a:prstGeom prst="rect">
            <a:avLst/>
          </a:prstGeom>
          <a:noFill/>
        </p:spPr>
        <p:txBody>
          <a:bodyPr wrap="square" lIns="18288" rIns="18288" tIns="0" bIns="0" anchor="ctr"/>
          <a:lstStyle/>
          <a:p>
            <a:pPr algn="ctr"/>
            <a:r>
              <a:rPr sz="750" b="1" i="0">
                <a:solidFill>
                  <a:srgbClr val="B4462B"/>
                </a:solidFill>
                <a:latin typeface="Arial"/>
              </a:rPr>
              <a:t>Parallel play</a:t>
            </a:r>
          </a:p>
        </p:txBody>
      </p:sp>
      <p:sp>
        <p:nvSpPr>
          <p:cNvPr id="69" name="Right Arrow 68"/>
          <p:cNvSpPr/>
          <p:nvPr/>
        </p:nvSpPr>
        <p:spPr>
          <a:xfrm>
            <a:off x="8934041" y="6431788"/>
            <a:ext cx="146304" cy="164592"/>
          </a:xfrm>
          <a:prstGeom prst="rightArrow">
            <a:avLst/>
          </a:prstGeom>
          <a:solidFill>
            <a:srgbClr val="B44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9107777" y="5942584"/>
            <a:ext cx="650882" cy="1143000"/>
          </a:xfrm>
          <a:prstGeom prst="roundRect">
            <a:avLst>
              <a:gd name="adj" fmla="val 8000"/>
            </a:avLst>
          </a:prstGeom>
          <a:solidFill>
            <a:srgbClr val="FBEBE6"/>
          </a:solidFill>
          <a:ln w="9525">
            <a:solidFill>
              <a:srgbClr val="B44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9158898" y="6034023"/>
            <a:ext cx="130759" cy="130759"/>
          </a:xfrm>
          <a:prstGeom prst="ellipse">
            <a:avLst/>
          </a:prstGeom>
          <a:solidFill>
            <a:srgbClr val="B44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 Same Side Corner Rectangle 71"/>
          <p:cNvSpPr/>
          <p:nvPr/>
        </p:nvSpPr>
        <p:spPr>
          <a:xfrm>
            <a:off x="9135124" y="6176670"/>
            <a:ext cx="178308" cy="142646"/>
          </a:xfrm>
          <a:prstGeom prst="round2SameRect">
            <a:avLst/>
          </a:prstGeom>
          <a:solidFill>
            <a:srgbClr val="B44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9579522" y="6034023"/>
            <a:ext cx="130759" cy="130759"/>
          </a:xfrm>
          <a:prstGeom prst="ellipse">
            <a:avLst/>
          </a:prstGeom>
          <a:solidFill>
            <a:srgbClr val="B44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 Same Side Corner Rectangle 73"/>
          <p:cNvSpPr/>
          <p:nvPr/>
        </p:nvSpPr>
        <p:spPr>
          <a:xfrm>
            <a:off x="9555748" y="6176670"/>
            <a:ext cx="178308" cy="142646"/>
          </a:xfrm>
          <a:prstGeom prst="round2SameRect">
            <a:avLst/>
          </a:prstGeom>
          <a:solidFill>
            <a:srgbClr val="B44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369210" y="6216904"/>
            <a:ext cx="128016" cy="128016"/>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107777" y="6399784"/>
            <a:ext cx="650882" cy="640080"/>
          </a:xfrm>
          <a:prstGeom prst="rect">
            <a:avLst/>
          </a:prstGeom>
          <a:noFill/>
        </p:spPr>
        <p:txBody>
          <a:bodyPr wrap="square" lIns="18288" rIns="18288" tIns="0" bIns="0" anchor="ctr"/>
          <a:lstStyle/>
          <a:p>
            <a:pPr algn="ctr"/>
            <a:r>
              <a:rPr sz="750" b="1" i="0">
                <a:solidFill>
                  <a:srgbClr val="B4462B"/>
                </a:solidFill>
                <a:latin typeface="Arial"/>
              </a:rPr>
              <a:t>Cooperative play</a:t>
            </a:r>
          </a:p>
          <a:p>
            <a:pPr algn="ctr"/>
            <a:r>
              <a:rPr sz="750" b="0" i="1">
                <a:solidFill>
                  <a:srgbClr val="1F2937"/>
                </a:solidFill>
                <a:latin typeface="Arial"/>
              </a:rPr>
              <a:t>(with common objectives)</a:t>
            </a:r>
          </a:p>
        </p:txBody>
      </p:sp>
      <p:sp>
        <p:nvSpPr>
          <p:cNvPr id="77" name="TextBox 76"/>
          <p:cNvSpPr txBox="1"/>
          <p:nvPr/>
        </p:nvSpPr>
        <p:spPr>
          <a:xfrm>
            <a:off x="7385389" y="7113016"/>
            <a:ext cx="2391558" cy="182880"/>
          </a:xfrm>
          <a:prstGeom prst="rect">
            <a:avLst/>
          </a:prstGeom>
          <a:noFill/>
        </p:spPr>
        <p:txBody>
          <a:bodyPr wrap="square" lIns="36576" rIns="36576" tIns="0" bIns="0" anchor="t"/>
          <a:lstStyle/>
          <a:p>
            <a:pPr algn="l"/>
            <a:r>
              <a:rPr sz="850" b="1" i="0">
                <a:solidFill>
                  <a:srgbClr val="B4462B"/>
                </a:solidFill>
                <a:latin typeface="Arial"/>
              </a:rPr>
              <a:t>Figure 3. </a:t>
            </a:r>
            <a:r>
              <a:rPr sz="850" b="0" i="1">
                <a:solidFill>
                  <a:srgbClr val="B42318"/>
                </a:solidFill>
                <a:latin typeface="Arial"/>
              </a:rPr>
              <a:t>[MISSING: caption for Figure 3] </a:t>
            </a:r>
            <a:r>
              <a:rPr sz="850" b="0" i="0">
                <a:solidFill>
                  <a:srgbClr val="4B5563"/>
                </a:solidFill>
                <a:latin typeface="Arial"/>
              </a:rPr>
              <a:t>(Boyd and Bee, 2019)</a:t>
            </a:r>
          </a:p>
        </p:txBody>
      </p:sp>
      <p:sp>
        <p:nvSpPr>
          <p:cNvPr id="78" name="4. Sociological Development text"/>
          <p:cNvSpPr txBox="1"/>
          <p:nvPr/>
        </p:nvSpPr>
        <p:spPr>
          <a:xfrm>
            <a:off x="7385389" y="7369048"/>
            <a:ext cx="2391558" cy="961644"/>
          </a:xfrm>
          <a:prstGeom prst="rect">
            <a:avLst/>
          </a:prstGeom>
          <a:noFill/>
        </p:spPr>
        <p:txBody>
          <a:bodyPr wrap="square" lIns="54864" rIns="54864" tIns="27432" bIns="27432" anchor="t"/>
          <a:lstStyle/>
          <a:p>
            <a:pPr>
              <a:lnSpc>
                <a:spcPct val="100000"/>
              </a:lnSpc>
              <a:spcAft>
                <a:spcPts val="200"/>
              </a:spcAft>
            </a:pPr>
            <a:r>
              <a:rPr sz="950" b="1" i="0">
                <a:solidFill>
                  <a:srgbClr val="B4462B"/>
                </a:solidFill>
                <a:latin typeface="Arial"/>
              </a:rPr>
              <a:t>School and peers</a:t>
            </a:r>
          </a:p>
          <a:p>
            <a:pPr marL="118872" indent="-118872">
              <a:lnSpc>
                <a:spcPct val="100000"/>
              </a:lnSpc>
              <a:spcAft>
                <a:spcPts val="200"/>
              </a:spcAft>
              <a:buClr>
                <a:srgbClr val="B4462B"/>
              </a:buClr>
              <a:buFont typeface="Arial"/>
              <a:buChar char="•"/>
            </a:pPr>
            <a:r>
              <a:rPr sz="900" b="0" i="0">
                <a:solidFill>
                  <a:srgbClr val="1F2937"/>
                </a:solidFill>
                <a:latin typeface="Arial"/>
              </a:rPr>
              <a:t>School adds new roles, such as pupil, friend and team member.</a:t>
            </a:r>
          </a:p>
          <a:p>
            <a:pPr marL="118872" indent="-118872">
              <a:lnSpc>
                <a:spcPct val="100000"/>
              </a:lnSpc>
              <a:spcAft>
                <a:spcPts val="200"/>
              </a:spcAft>
              <a:buClr>
                <a:srgbClr val="B4462B"/>
              </a:buClr>
              <a:buFont typeface="Arial"/>
              <a:buChar char="•"/>
            </a:pPr>
            <a:r>
              <a:rPr sz="900" b="0" i="0">
                <a:solidFill>
                  <a:srgbClr val="1F2937"/>
                </a:solidFill>
                <a:latin typeface="Arial"/>
              </a:rPr>
              <a:t>During middle childhood, the relationships with friends are founded on </a:t>
            </a:r>
            <a:r>
              <a:rPr sz="900" b="1" i="0">
                <a:solidFill>
                  <a:srgbClr val="B4462B"/>
                </a:solidFill>
                <a:latin typeface="Arial"/>
              </a:rPr>
              <a:t>trust and loyalty</a:t>
            </a:r>
            <a:r>
              <a:rPr sz="900" b="0" i="0">
                <a:solidFill>
                  <a:srgbClr val="1F2937"/>
                </a:solidFill>
                <a:latin typeface="Arial"/>
              </a:rPr>
              <a:t> (Boyd and Bee, 2019).</a:t>
            </a:r>
          </a:p>
        </p:txBody>
      </p:sp>
      <p:sp>
        <p:nvSpPr>
          <p:cNvPr id="79" name="Flow arrow down"/>
          <p:cNvSpPr/>
          <p:nvPr/>
        </p:nvSpPr>
        <p:spPr>
          <a:xfrm>
            <a:off x="6821826" y="5366512"/>
            <a:ext cx="237744" cy="164592"/>
          </a:xfrm>
          <a:prstGeom prst="downArrow">
            <a:avLst/>
          </a:prstGeom>
          <a:solidFill>
            <a:srgbClr val="6A3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low arrow right"/>
          <p:cNvSpPr/>
          <p:nvPr/>
        </p:nvSpPr>
        <p:spPr>
          <a:xfrm>
            <a:off x="3775264" y="2532888"/>
            <a:ext cx="237744" cy="274320"/>
          </a:xfrm>
          <a:prstGeom prst="rightArrow">
            <a:avLst/>
          </a:prstGeom>
          <a:solidFill>
            <a:srgbClr val="1679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anel 5. Key Influences"/>
          <p:cNvSpPr/>
          <p:nvPr/>
        </p:nvSpPr>
        <p:spPr>
          <a:xfrm>
            <a:off x="10133563" y="1143000"/>
            <a:ext cx="6005596" cy="5699760"/>
          </a:xfrm>
          <a:prstGeom prst="roundRect">
            <a:avLst>
              <a:gd name="adj" fmla="val 1443"/>
            </a:avLst>
          </a:prstGeom>
          <a:solidFill>
            <a:srgbClr val="FFFFFF"/>
          </a:solidFill>
          <a:ln w="19050">
            <a:solidFill>
              <a:srgbClr val="245C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Header 5. Key Influences"/>
          <p:cNvSpPr/>
          <p:nvPr/>
        </p:nvSpPr>
        <p:spPr>
          <a:xfrm>
            <a:off x="10133563" y="1143000"/>
            <a:ext cx="6005596" cy="292608"/>
          </a:xfrm>
          <a:prstGeom prst="roundRect">
            <a:avLst>
              <a:gd name="adj" fmla="val 8000"/>
            </a:avLst>
          </a:prstGeom>
          <a:solidFill>
            <a:srgbClr val="245C8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r>
              <a:rPr sz="1250" b="1" i="0">
                <a:solidFill>
                  <a:srgbClr val="FFFFFF"/>
                </a:solidFill>
                <a:latin typeface="Arial"/>
              </a:rPr>
              <a:t>5. Key Influences</a:t>
            </a:r>
          </a:p>
        </p:txBody>
      </p:sp>
      <p:sp>
        <p:nvSpPr>
          <p:cNvPr id="83" name="5. Key Influences text"/>
          <p:cNvSpPr txBox="1"/>
          <p:nvPr/>
        </p:nvSpPr>
        <p:spPr>
          <a:xfrm>
            <a:off x="10197571" y="1490472"/>
            <a:ext cx="2801721" cy="1647444"/>
          </a:xfrm>
          <a:prstGeom prst="rect">
            <a:avLst/>
          </a:prstGeom>
          <a:noFill/>
        </p:spPr>
        <p:txBody>
          <a:bodyPr wrap="square" lIns="54864" rIns="54864" tIns="27432" bIns="27432" anchor="t"/>
          <a:lstStyle/>
          <a:p>
            <a:pPr>
              <a:lnSpc>
                <a:spcPct val="100000"/>
              </a:lnSpc>
              <a:spcAft>
                <a:spcPts val="200"/>
              </a:spcAft>
            </a:pPr>
            <a:r>
              <a:rPr sz="950" b="1" i="0">
                <a:solidFill>
                  <a:srgbClr val="245C8F"/>
                </a:solidFill>
                <a:latin typeface="Arial"/>
              </a:rPr>
              <a:t>Bronfenbrenner’s bioecological theory</a:t>
            </a:r>
          </a:p>
          <a:p>
            <a:pPr marL="118872" indent="-118872">
              <a:lnSpc>
                <a:spcPct val="100000"/>
              </a:lnSpc>
              <a:spcAft>
                <a:spcPts val="200"/>
              </a:spcAft>
              <a:buClr>
                <a:srgbClr val="245C8F"/>
              </a:buClr>
              <a:buFont typeface="Arial"/>
              <a:buChar char="•"/>
            </a:pPr>
            <a:r>
              <a:rPr sz="900" b="0" i="0">
                <a:solidFill>
                  <a:srgbClr val="1F2937"/>
                </a:solidFill>
                <a:latin typeface="Arial"/>
              </a:rPr>
              <a:t>The child is located within five layers: </a:t>
            </a:r>
            <a:r>
              <a:rPr sz="900" b="1" i="0">
                <a:solidFill>
                  <a:srgbClr val="245C8F"/>
                </a:solidFill>
                <a:latin typeface="Arial"/>
              </a:rPr>
              <a:t>microsystem</a:t>
            </a:r>
            <a:r>
              <a:rPr sz="900" b="0" i="0">
                <a:solidFill>
                  <a:srgbClr val="1F2937"/>
                </a:solidFill>
                <a:latin typeface="Arial"/>
              </a:rPr>
              <a:t> (family, school), </a:t>
            </a:r>
            <a:r>
              <a:rPr sz="900" b="1" i="0">
                <a:solidFill>
                  <a:srgbClr val="245C8F"/>
                </a:solidFill>
                <a:latin typeface="Arial"/>
              </a:rPr>
              <a:t>mesosystem</a:t>
            </a:r>
            <a:r>
              <a:rPr sz="900" b="0" i="0">
                <a:solidFill>
                  <a:srgbClr val="1F2937"/>
                </a:solidFill>
                <a:latin typeface="Arial"/>
              </a:rPr>
              <a:t> (connections between them), </a:t>
            </a:r>
            <a:r>
              <a:rPr sz="900" b="1" i="0">
                <a:solidFill>
                  <a:srgbClr val="245C8F"/>
                </a:solidFill>
                <a:latin typeface="Arial"/>
              </a:rPr>
              <a:t>exosystem</a:t>
            </a:r>
            <a:r>
              <a:rPr sz="900" b="0" i="0">
                <a:solidFill>
                  <a:srgbClr val="1F2937"/>
                </a:solidFill>
                <a:latin typeface="Arial"/>
              </a:rPr>
              <a:t> (work of parents, local services), </a:t>
            </a:r>
            <a:r>
              <a:rPr sz="900" b="1" i="0">
                <a:solidFill>
                  <a:srgbClr val="245C8F"/>
                </a:solidFill>
                <a:latin typeface="Arial"/>
              </a:rPr>
              <a:t>macrosystem</a:t>
            </a:r>
            <a:r>
              <a:rPr sz="900" b="0" i="0">
                <a:solidFill>
                  <a:srgbClr val="1F2937"/>
                </a:solidFill>
                <a:latin typeface="Arial"/>
              </a:rPr>
              <a:t> (culture, laws) and </a:t>
            </a:r>
            <a:r>
              <a:rPr sz="900" b="1" i="0">
                <a:solidFill>
                  <a:srgbClr val="245C8F"/>
                </a:solidFill>
                <a:latin typeface="Arial"/>
              </a:rPr>
              <a:t>chronosystem</a:t>
            </a:r>
            <a:r>
              <a:rPr sz="900" b="0" i="0">
                <a:solidFill>
                  <a:srgbClr val="1F2937"/>
                </a:solidFill>
                <a:latin typeface="Arial"/>
              </a:rPr>
              <a:t> (time) (Boyd and Bee, 2019).</a:t>
            </a:r>
          </a:p>
          <a:p>
            <a:pPr marL="118872" indent="-118872">
              <a:lnSpc>
                <a:spcPct val="100000"/>
              </a:lnSpc>
              <a:spcAft>
                <a:spcPts val="200"/>
              </a:spcAft>
              <a:buClr>
                <a:srgbClr val="245C8F"/>
              </a:buClr>
              <a:buFont typeface="Arial"/>
              <a:buChar char="•"/>
            </a:pPr>
            <a:r>
              <a:rPr sz="900" b="0" i="0">
                <a:solidFill>
                  <a:srgbClr val="1F2937"/>
                </a:solidFill>
                <a:latin typeface="Arial"/>
              </a:rPr>
              <a:t>The subsequent one emphasises </a:t>
            </a:r>
            <a:r>
              <a:rPr sz="900" b="1" i="0">
                <a:solidFill>
                  <a:srgbClr val="245C8F"/>
                </a:solidFill>
                <a:latin typeface="Arial"/>
              </a:rPr>
              <a:t>process, person, context and time</a:t>
            </a:r>
            <a:r>
              <a:rPr sz="900" b="0" i="0">
                <a:solidFill>
                  <a:srgbClr val="1F2937"/>
                </a:solidFill>
                <a:latin typeface="Arial"/>
              </a:rPr>
              <a:t>. Development is caused by regular daily interactions with close individuals (Rosa and Tudge, 2013).</a:t>
            </a:r>
          </a:p>
        </p:txBody>
      </p:sp>
      <p:sp>
        <p:nvSpPr>
          <p:cNvPr id="84" name="Oval 83"/>
          <p:cNvSpPr/>
          <p:nvPr/>
        </p:nvSpPr>
        <p:spPr>
          <a:xfrm>
            <a:off x="10238719" y="3247644"/>
            <a:ext cx="2719425" cy="1737360"/>
          </a:xfrm>
          <a:prstGeom prst="ellipse">
            <a:avLst/>
          </a:prstGeom>
          <a:solidFill>
            <a:srgbClr val="C9DCEF"/>
          </a:solidFill>
          <a:ln w="9525">
            <a:solidFill>
              <a:srgbClr val="245C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866912" y="3261360"/>
            <a:ext cx="1463040" cy="146304"/>
          </a:xfrm>
          <a:prstGeom prst="rect">
            <a:avLst/>
          </a:prstGeom>
          <a:noFill/>
        </p:spPr>
        <p:txBody>
          <a:bodyPr wrap="square" lIns="0" rIns="0" tIns="0" bIns="0" anchor="ctr"/>
          <a:lstStyle/>
          <a:p>
            <a:pPr algn="ctr"/>
            <a:r>
              <a:rPr sz="750" b="1" i="0">
                <a:solidFill>
                  <a:srgbClr val="245C8F"/>
                </a:solidFill>
                <a:latin typeface="Arial"/>
              </a:rPr>
              <a:t>macrosystem</a:t>
            </a:r>
          </a:p>
        </p:txBody>
      </p:sp>
      <p:sp>
        <p:nvSpPr>
          <p:cNvPr id="86" name="Oval 85"/>
          <p:cNvSpPr/>
          <p:nvPr/>
        </p:nvSpPr>
        <p:spPr>
          <a:xfrm>
            <a:off x="10510662" y="3421380"/>
            <a:ext cx="2175540" cy="1389888"/>
          </a:xfrm>
          <a:prstGeom prst="ellipse">
            <a:avLst/>
          </a:prstGeom>
          <a:solidFill>
            <a:srgbClr val="DCE8F5"/>
          </a:solidFill>
          <a:ln w="9525">
            <a:solidFill>
              <a:srgbClr val="245C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0866912" y="3435096"/>
            <a:ext cx="1463040" cy="146304"/>
          </a:xfrm>
          <a:prstGeom prst="rect">
            <a:avLst/>
          </a:prstGeom>
          <a:noFill/>
        </p:spPr>
        <p:txBody>
          <a:bodyPr wrap="square" lIns="0" rIns="0" tIns="0" bIns="0" anchor="ctr"/>
          <a:lstStyle/>
          <a:p>
            <a:pPr algn="ctr"/>
            <a:r>
              <a:rPr sz="750" b="1" i="0">
                <a:solidFill>
                  <a:srgbClr val="245C8F"/>
                </a:solidFill>
                <a:latin typeface="Arial"/>
              </a:rPr>
              <a:t>exosystem</a:t>
            </a:r>
          </a:p>
        </p:txBody>
      </p:sp>
      <p:sp>
        <p:nvSpPr>
          <p:cNvPr id="88" name="Oval 87"/>
          <p:cNvSpPr/>
          <p:nvPr/>
        </p:nvSpPr>
        <p:spPr>
          <a:xfrm>
            <a:off x="10782604" y="3595116"/>
            <a:ext cx="1631655" cy="1042416"/>
          </a:xfrm>
          <a:prstGeom prst="ellipse">
            <a:avLst/>
          </a:prstGeom>
          <a:solidFill>
            <a:srgbClr val="EAF1F9"/>
          </a:solidFill>
          <a:ln w="9525">
            <a:solidFill>
              <a:srgbClr val="245C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0866912" y="3608831"/>
            <a:ext cx="1463040" cy="146304"/>
          </a:xfrm>
          <a:prstGeom prst="rect">
            <a:avLst/>
          </a:prstGeom>
          <a:noFill/>
        </p:spPr>
        <p:txBody>
          <a:bodyPr wrap="square" lIns="0" rIns="0" tIns="0" bIns="0" anchor="ctr"/>
          <a:lstStyle/>
          <a:p>
            <a:pPr algn="ctr"/>
            <a:r>
              <a:rPr sz="750" b="1" i="0">
                <a:solidFill>
                  <a:srgbClr val="245C8F"/>
                </a:solidFill>
                <a:latin typeface="Arial"/>
              </a:rPr>
              <a:t>mesosystem</a:t>
            </a:r>
          </a:p>
        </p:txBody>
      </p:sp>
      <p:sp>
        <p:nvSpPr>
          <p:cNvPr id="90" name="Oval 89"/>
          <p:cNvSpPr/>
          <p:nvPr/>
        </p:nvSpPr>
        <p:spPr>
          <a:xfrm>
            <a:off x="11054547" y="3768852"/>
            <a:ext cx="1087770" cy="694943"/>
          </a:xfrm>
          <a:prstGeom prst="ellipse">
            <a:avLst/>
          </a:prstGeom>
          <a:solidFill>
            <a:srgbClr val="F7FAFD"/>
          </a:solidFill>
          <a:ln w="9525">
            <a:solidFill>
              <a:srgbClr val="245C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866912" y="3782568"/>
            <a:ext cx="1463040" cy="146304"/>
          </a:xfrm>
          <a:prstGeom prst="rect">
            <a:avLst/>
          </a:prstGeom>
          <a:noFill/>
        </p:spPr>
        <p:txBody>
          <a:bodyPr wrap="square" lIns="0" rIns="0" tIns="0" bIns="0" anchor="ctr"/>
          <a:lstStyle/>
          <a:p>
            <a:pPr algn="ctr"/>
            <a:r>
              <a:rPr sz="750" b="1" i="0">
                <a:solidFill>
                  <a:srgbClr val="245C8F"/>
                </a:solidFill>
                <a:latin typeface="Arial"/>
              </a:rPr>
              <a:t>microsystem</a:t>
            </a:r>
          </a:p>
        </p:txBody>
      </p:sp>
      <p:sp>
        <p:nvSpPr>
          <p:cNvPr id="92" name="Oval 91"/>
          <p:cNvSpPr/>
          <p:nvPr/>
        </p:nvSpPr>
        <p:spPr>
          <a:xfrm>
            <a:off x="11269248" y="3997452"/>
            <a:ext cx="658368" cy="237744"/>
          </a:xfrm>
          <a:prstGeom prst="ellipse">
            <a:avLst/>
          </a:prstGeom>
          <a:solidFill>
            <a:srgbClr val="245C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750" b="1" i="0">
                <a:solidFill>
                  <a:srgbClr val="FFFFFF"/>
                </a:solidFill>
                <a:latin typeface="Arial"/>
              </a:rPr>
              <a:t>The child</a:t>
            </a:r>
          </a:p>
        </p:txBody>
      </p:sp>
      <p:sp>
        <p:nvSpPr>
          <p:cNvPr id="93" name="Right Arrow 92"/>
          <p:cNvSpPr/>
          <p:nvPr/>
        </p:nvSpPr>
        <p:spPr>
          <a:xfrm>
            <a:off x="10307299" y="4994148"/>
            <a:ext cx="2582265" cy="219456"/>
          </a:xfrm>
          <a:prstGeom prst="rightArrow">
            <a:avLst/>
          </a:prstGeom>
          <a:solidFill>
            <a:srgbClr val="245C8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700" b="1" i="0">
                <a:solidFill>
                  <a:srgbClr val="FFFFFF"/>
                </a:solidFill>
                <a:latin typeface="Arial"/>
              </a:rPr>
              <a:t>chronosystem</a:t>
            </a:r>
            <a:r>
              <a:rPr sz="700" b="0" i="0">
                <a:solidFill>
                  <a:srgbClr val="FFFFFF"/>
                </a:solidFill>
                <a:latin typeface="Arial"/>
              </a:rPr>
              <a:t> (time)</a:t>
            </a:r>
          </a:p>
        </p:txBody>
      </p:sp>
      <p:sp>
        <p:nvSpPr>
          <p:cNvPr id="94" name="TextBox 93"/>
          <p:cNvSpPr txBox="1"/>
          <p:nvPr/>
        </p:nvSpPr>
        <p:spPr>
          <a:xfrm>
            <a:off x="10197571" y="5259324"/>
            <a:ext cx="2801721" cy="182880"/>
          </a:xfrm>
          <a:prstGeom prst="rect">
            <a:avLst/>
          </a:prstGeom>
          <a:noFill/>
        </p:spPr>
        <p:txBody>
          <a:bodyPr wrap="square" lIns="36576" rIns="36576" tIns="0" bIns="0" anchor="t"/>
          <a:lstStyle/>
          <a:p>
            <a:pPr algn="l"/>
            <a:r>
              <a:rPr sz="850" b="1" i="0">
                <a:solidFill>
                  <a:srgbClr val="245C8F"/>
                </a:solidFill>
                <a:latin typeface="Arial"/>
              </a:rPr>
              <a:t>Figure 4. </a:t>
            </a:r>
            <a:r>
              <a:rPr sz="850" b="0" i="1">
                <a:solidFill>
                  <a:srgbClr val="B42318"/>
                </a:solidFill>
                <a:latin typeface="Arial"/>
              </a:rPr>
              <a:t>[MISSING: caption for Figure 4] </a:t>
            </a:r>
            <a:r>
              <a:rPr sz="850" b="0" i="0">
                <a:solidFill>
                  <a:srgbClr val="4B5563"/>
                </a:solidFill>
                <a:latin typeface="Arial"/>
              </a:rPr>
              <a:t>(Boyd and Bee, 2019)</a:t>
            </a:r>
          </a:p>
        </p:txBody>
      </p:sp>
      <p:sp>
        <p:nvSpPr>
          <p:cNvPr id="95" name="5. Key Influences text"/>
          <p:cNvSpPr txBox="1"/>
          <p:nvPr/>
        </p:nvSpPr>
        <p:spPr>
          <a:xfrm>
            <a:off x="10197571" y="5515356"/>
            <a:ext cx="2801721" cy="1235964"/>
          </a:xfrm>
          <a:prstGeom prst="rect">
            <a:avLst/>
          </a:prstGeom>
          <a:noFill/>
        </p:spPr>
        <p:txBody>
          <a:bodyPr wrap="square" lIns="54864" rIns="54864" tIns="27432" bIns="27432" anchor="t"/>
          <a:lstStyle/>
          <a:p>
            <a:pPr>
              <a:lnSpc>
                <a:spcPct val="100000"/>
              </a:lnSpc>
              <a:spcAft>
                <a:spcPts val="200"/>
              </a:spcAft>
            </a:pPr>
            <a:r>
              <a:rPr sz="950" b="1" i="0">
                <a:solidFill>
                  <a:srgbClr val="245C8F"/>
                </a:solidFill>
                <a:latin typeface="Arial"/>
              </a:rPr>
              <a:t>Poverty</a:t>
            </a:r>
          </a:p>
          <a:p>
            <a:pPr marL="118872" indent="-118872">
              <a:lnSpc>
                <a:spcPct val="100000"/>
              </a:lnSpc>
              <a:spcAft>
                <a:spcPts val="200"/>
              </a:spcAft>
              <a:buClr>
                <a:srgbClr val="245C8F"/>
              </a:buClr>
              <a:buFont typeface="Arial"/>
              <a:buChar char="•"/>
            </a:pPr>
            <a:r>
              <a:rPr sz="900" b="0" i="0">
                <a:solidFill>
                  <a:srgbClr val="1F2937"/>
                </a:solidFill>
                <a:latin typeface="Arial"/>
              </a:rPr>
              <a:t>In 2024/25, </a:t>
            </a:r>
            <a:r>
              <a:rPr sz="900" b="1" i="0">
                <a:solidFill>
                  <a:srgbClr val="245C8F"/>
                </a:solidFill>
                <a:latin typeface="Arial"/>
              </a:rPr>
              <a:t>27%</a:t>
            </a:r>
            <a:r>
              <a:rPr sz="900" b="0" i="0">
                <a:solidFill>
                  <a:srgbClr val="1F2937"/>
                </a:solidFill>
                <a:latin typeface="Arial"/>
              </a:rPr>
              <a:t> of UK children lived in relative low income after housing costs. The deep material poverty is </a:t>
            </a:r>
            <a:r>
              <a:rPr sz="900" b="1" i="0">
                <a:solidFill>
                  <a:srgbClr val="245C8F"/>
                </a:solidFill>
                <a:latin typeface="Arial"/>
              </a:rPr>
              <a:t>1.9 million children (13%)</a:t>
            </a:r>
            <a:r>
              <a:rPr sz="900" b="0" i="0">
                <a:solidFill>
                  <a:srgbClr val="1F2937"/>
                </a:solidFill>
                <a:latin typeface="Arial"/>
              </a:rPr>
              <a:t> (DWP, 2026).</a:t>
            </a:r>
          </a:p>
          <a:p>
            <a:pPr marL="118872" indent="-118872">
              <a:lnSpc>
                <a:spcPct val="100000"/>
              </a:lnSpc>
              <a:spcAft>
                <a:spcPts val="200"/>
              </a:spcAft>
              <a:buClr>
                <a:srgbClr val="245C8F"/>
              </a:buClr>
              <a:buFont typeface="Arial"/>
              <a:buChar char="•"/>
            </a:pPr>
            <a:r>
              <a:rPr sz="900" b="0" i="0">
                <a:solidFill>
                  <a:srgbClr val="1F2937"/>
                </a:solidFill>
                <a:latin typeface="Arial"/>
              </a:rPr>
              <a:t>Brain surface area among children is associated with </a:t>
            </a:r>
            <a:r>
              <a:rPr sz="900" b="1" i="0">
                <a:solidFill>
                  <a:srgbClr val="245C8F"/>
                </a:solidFill>
                <a:latin typeface="Arial"/>
              </a:rPr>
              <a:t>family income</a:t>
            </a:r>
            <a:r>
              <a:rPr sz="900" b="0" i="0">
                <a:solidFill>
                  <a:srgbClr val="1F2937"/>
                </a:solidFill>
                <a:latin typeface="Arial"/>
              </a:rPr>
              <a:t>. The correlation is the highest in the poorest families (Noble et al., 2015).</a:t>
            </a:r>
          </a:p>
        </p:txBody>
      </p:sp>
      <p:sp>
        <p:nvSpPr>
          <p:cNvPr id="96" name="5. Key Influences text"/>
          <p:cNvSpPr txBox="1"/>
          <p:nvPr/>
        </p:nvSpPr>
        <p:spPr>
          <a:xfrm>
            <a:off x="13419917" y="1490472"/>
            <a:ext cx="2655234" cy="961644"/>
          </a:xfrm>
          <a:prstGeom prst="rect">
            <a:avLst/>
          </a:prstGeom>
          <a:noFill/>
        </p:spPr>
        <p:txBody>
          <a:bodyPr wrap="square" lIns="54864" rIns="54864" tIns="27432" bIns="27432" anchor="t"/>
          <a:lstStyle/>
          <a:p>
            <a:pPr>
              <a:lnSpc>
                <a:spcPct val="100000"/>
              </a:lnSpc>
              <a:spcAft>
                <a:spcPts val="200"/>
              </a:spcAft>
            </a:pPr>
            <a:r>
              <a:rPr sz="950" b="1" i="0">
                <a:solidFill>
                  <a:srgbClr val="245C8F"/>
                </a:solidFill>
                <a:latin typeface="Arial"/>
              </a:rPr>
              <a:t>Nutrition and weight</a:t>
            </a:r>
          </a:p>
          <a:p>
            <a:pPr marL="118872" indent="-118872">
              <a:lnSpc>
                <a:spcPct val="100000"/>
              </a:lnSpc>
              <a:spcAft>
                <a:spcPts val="200"/>
              </a:spcAft>
              <a:buClr>
                <a:srgbClr val="245C8F"/>
              </a:buClr>
              <a:buFont typeface="Arial"/>
              <a:buChar char="•"/>
            </a:pPr>
            <a:r>
              <a:rPr sz="900" b="0" i="0">
                <a:solidFill>
                  <a:srgbClr val="1F2937"/>
                </a:solidFill>
                <a:latin typeface="Arial"/>
              </a:rPr>
              <a:t>In England in 2024/25, </a:t>
            </a:r>
            <a:r>
              <a:rPr sz="900" b="1" i="0">
                <a:solidFill>
                  <a:srgbClr val="245C8F"/>
                </a:solidFill>
                <a:latin typeface="Arial"/>
              </a:rPr>
              <a:t>22.2%</a:t>
            </a:r>
            <a:r>
              <a:rPr sz="900" b="0" i="0">
                <a:solidFill>
                  <a:srgbClr val="1F2937"/>
                </a:solidFill>
                <a:latin typeface="Arial"/>
              </a:rPr>
              <a:t> of Year 6 children were obese (OHID, 2025).</a:t>
            </a:r>
          </a:p>
          <a:p>
            <a:pPr marL="118872" indent="-118872">
              <a:lnSpc>
                <a:spcPct val="100000"/>
              </a:lnSpc>
              <a:spcAft>
                <a:spcPts val="200"/>
              </a:spcAft>
              <a:buClr>
                <a:srgbClr val="245C8F"/>
              </a:buClr>
              <a:buFont typeface="Arial"/>
              <a:buChar char="•"/>
            </a:pPr>
            <a:r>
              <a:rPr sz="900" b="0" i="0">
                <a:solidFill>
                  <a:srgbClr val="1F2937"/>
                </a:solidFill>
                <a:latin typeface="Arial"/>
              </a:rPr>
              <a:t>Year 6 obesity was </a:t>
            </a:r>
            <a:r>
              <a:rPr sz="900" b="1" i="0">
                <a:solidFill>
                  <a:srgbClr val="245C8F"/>
                </a:solidFill>
                <a:latin typeface="Arial"/>
              </a:rPr>
              <a:t>29.3%</a:t>
            </a:r>
            <a:r>
              <a:rPr sz="900" b="0" i="0">
                <a:solidFill>
                  <a:srgbClr val="1F2937"/>
                </a:solidFill>
                <a:latin typeface="Arial"/>
              </a:rPr>
              <a:t> in the most deprived areas, compared with </a:t>
            </a:r>
            <a:r>
              <a:rPr sz="900" b="1" i="0">
                <a:solidFill>
                  <a:srgbClr val="245C8F"/>
                </a:solidFill>
                <a:latin typeface="Arial"/>
              </a:rPr>
              <a:t>13.5%</a:t>
            </a:r>
            <a:r>
              <a:rPr sz="900" b="0" i="0">
                <a:solidFill>
                  <a:srgbClr val="1F2937"/>
                </a:solidFill>
                <a:latin typeface="Arial"/>
              </a:rPr>
              <a:t> in the least deprived (OHID, 2025).</a:t>
            </a:r>
          </a:p>
        </p:txBody>
      </p:sp>
      <p:graphicFrame>
        <p:nvGraphicFramePr>
          <p:cNvPr id="97" name="Year 6 obesity chart"/>
          <p:cNvGraphicFramePr>
            <a:graphicFrameLocks noGrp="1"/>
          </p:cNvGraphicFramePr>
          <p:nvPr/>
        </p:nvGraphicFramePr>
        <p:xfrm>
          <a:off x="13438205" y="2534412"/>
          <a:ext cx="2618658" cy="1325880"/>
        </p:xfrm>
        <a:graphic>
          <a:graphicData uri="http://schemas.openxmlformats.org/drawingml/2006/chart">
            <c:chart xmlns:c="http://schemas.openxmlformats.org/drawingml/2006/chart" r:id="rId2"/>
          </a:graphicData>
        </a:graphic>
      </p:graphicFrame>
      <p:sp>
        <p:nvSpPr>
          <p:cNvPr id="98" name="TextBox 97"/>
          <p:cNvSpPr txBox="1"/>
          <p:nvPr/>
        </p:nvSpPr>
        <p:spPr>
          <a:xfrm>
            <a:off x="13419917" y="3887724"/>
            <a:ext cx="2655234" cy="182880"/>
          </a:xfrm>
          <a:prstGeom prst="rect">
            <a:avLst/>
          </a:prstGeom>
          <a:noFill/>
        </p:spPr>
        <p:txBody>
          <a:bodyPr wrap="square" lIns="36576" rIns="36576" tIns="0" bIns="0" anchor="t"/>
          <a:lstStyle/>
          <a:p>
            <a:pPr algn="l"/>
            <a:r>
              <a:rPr sz="850" b="1" i="0">
                <a:solidFill>
                  <a:srgbClr val="245C8F"/>
                </a:solidFill>
                <a:latin typeface="Arial"/>
              </a:rPr>
              <a:t>Figure 5. </a:t>
            </a:r>
            <a:r>
              <a:rPr sz="850" b="0" i="1">
                <a:solidFill>
                  <a:srgbClr val="B42318"/>
                </a:solidFill>
                <a:latin typeface="Arial"/>
              </a:rPr>
              <a:t>[MISSING: caption for Figure 5] </a:t>
            </a:r>
            <a:r>
              <a:rPr sz="850" b="0" i="0">
                <a:solidFill>
                  <a:srgbClr val="4B5563"/>
                </a:solidFill>
                <a:latin typeface="Arial"/>
              </a:rPr>
              <a:t>(OHID, 2025)</a:t>
            </a:r>
          </a:p>
        </p:txBody>
      </p:sp>
      <p:sp>
        <p:nvSpPr>
          <p:cNvPr id="99" name="5. Key Influences text"/>
          <p:cNvSpPr txBox="1"/>
          <p:nvPr/>
        </p:nvSpPr>
        <p:spPr>
          <a:xfrm>
            <a:off x="13419917" y="4143756"/>
            <a:ext cx="2655234" cy="2018284"/>
          </a:xfrm>
          <a:prstGeom prst="rect">
            <a:avLst/>
          </a:prstGeom>
          <a:noFill/>
        </p:spPr>
        <p:txBody>
          <a:bodyPr wrap="square" lIns="54864" rIns="54864" tIns="27432" bIns="27432" anchor="t"/>
          <a:lstStyle/>
          <a:p>
            <a:pPr>
              <a:lnSpc>
                <a:spcPct val="100000"/>
              </a:lnSpc>
              <a:spcAft>
                <a:spcPts val="200"/>
              </a:spcAft>
            </a:pPr>
            <a:r>
              <a:rPr sz="950" b="1" i="0">
                <a:solidFill>
                  <a:srgbClr val="245C8F"/>
                </a:solidFill>
                <a:latin typeface="Arial"/>
              </a:rPr>
              <a:t>Adverse Childhood Experiences (ACEs)</a:t>
            </a:r>
          </a:p>
          <a:p>
            <a:pPr marL="118872" indent="-118872">
              <a:lnSpc>
                <a:spcPct val="100000"/>
              </a:lnSpc>
              <a:spcAft>
                <a:spcPts val="200"/>
              </a:spcAft>
              <a:buClr>
                <a:srgbClr val="245C8F"/>
              </a:buClr>
              <a:buFont typeface="Arial"/>
              <a:buChar char="•"/>
            </a:pPr>
            <a:r>
              <a:rPr sz="900" b="0" i="0">
                <a:solidFill>
                  <a:srgbClr val="1F2937"/>
                </a:solidFill>
                <a:latin typeface="Arial"/>
              </a:rPr>
              <a:t>Some of the ACEs are abuse, neglect and living with domestic violence.</a:t>
            </a:r>
          </a:p>
          <a:p>
            <a:pPr marL="118872" indent="-118872">
              <a:lnSpc>
                <a:spcPct val="100000"/>
              </a:lnSpc>
              <a:spcAft>
                <a:spcPts val="200"/>
              </a:spcAft>
              <a:buClr>
                <a:srgbClr val="245C8F"/>
              </a:buClr>
              <a:buFont typeface="Arial"/>
              <a:buChar char="•"/>
            </a:pPr>
            <a:r>
              <a:rPr sz="900" b="0" i="0">
                <a:solidFill>
                  <a:srgbClr val="1F2937"/>
                </a:solidFill>
                <a:latin typeface="Arial"/>
              </a:rPr>
              <a:t>Adults who have </a:t>
            </a:r>
            <a:r>
              <a:rPr sz="900" b="1" i="0">
                <a:solidFill>
                  <a:srgbClr val="245C8F"/>
                </a:solidFill>
                <a:latin typeface="Arial"/>
              </a:rPr>
              <a:t>four or more ACEs</a:t>
            </a:r>
            <a:r>
              <a:rPr sz="900" b="0" i="0">
                <a:solidFill>
                  <a:srgbClr val="1F2937"/>
                </a:solidFill>
                <a:latin typeface="Arial"/>
              </a:rPr>
              <a:t> are at increased risk of all of the health outcomes examined. The strongest links are with drug problems and violence (Hughes et al., 2017).</a:t>
            </a:r>
          </a:p>
          <a:p>
            <a:pPr>
              <a:lnSpc>
                <a:spcPct val="100000"/>
              </a:lnSpc>
              <a:spcBef>
                <a:spcPts val="300"/>
              </a:spcBef>
              <a:spcAft>
                <a:spcPts val="200"/>
              </a:spcAft>
            </a:pPr>
            <a:r>
              <a:rPr sz="950" b="1" i="0">
                <a:solidFill>
                  <a:srgbClr val="245C8F"/>
                </a:solidFill>
                <a:latin typeface="Arial"/>
              </a:rPr>
              <a:t>Critical point</a:t>
            </a:r>
          </a:p>
          <a:p>
            <a:pPr>
              <a:lnSpc>
                <a:spcPct val="100000"/>
              </a:lnSpc>
              <a:spcAft>
                <a:spcPts val="200"/>
              </a:spcAft>
            </a:pPr>
            <a:r>
              <a:rPr sz="900" b="0" i="0">
                <a:solidFill>
                  <a:srgbClr val="1F2937"/>
                </a:solidFill>
                <a:latin typeface="Arial"/>
              </a:rPr>
              <a:t>The majority of this research indicates </a:t>
            </a:r>
            <a:r>
              <a:rPr sz="900" b="1" i="0">
                <a:solidFill>
                  <a:srgbClr val="245C8F"/>
                </a:solidFill>
                <a:latin typeface="Arial"/>
              </a:rPr>
              <a:t>interdependence</a:t>
            </a:r>
            <a:r>
              <a:rPr sz="900" b="0" i="0">
                <a:solidFill>
                  <a:srgbClr val="1F2937"/>
                </a:solidFill>
                <a:latin typeface="Arial"/>
              </a:rPr>
              <a:t>, rather than causation. Hardship does not hinder the performance of many children (Noble et al., 2015; Hughes et al., 2017).</a:t>
            </a:r>
          </a:p>
        </p:txBody>
      </p:sp>
      <p:sp>
        <p:nvSpPr>
          <p:cNvPr id="100" name="Panel 6. Conclusion"/>
          <p:cNvSpPr/>
          <p:nvPr/>
        </p:nvSpPr>
        <p:spPr>
          <a:xfrm>
            <a:off x="10133563" y="7080504"/>
            <a:ext cx="6005596" cy="1903475"/>
          </a:xfrm>
          <a:prstGeom prst="roundRect">
            <a:avLst>
              <a:gd name="adj" fmla="val 4323"/>
            </a:avLst>
          </a:prstGeom>
          <a:solidFill>
            <a:srgbClr val="FFFFFF"/>
          </a:solidFill>
          <a:ln w="19050">
            <a:solidFill>
              <a:srgbClr val="3D3B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Header 6. Conclusion"/>
          <p:cNvSpPr/>
          <p:nvPr/>
        </p:nvSpPr>
        <p:spPr>
          <a:xfrm>
            <a:off x="10133563" y="7080504"/>
            <a:ext cx="6005596" cy="292608"/>
          </a:xfrm>
          <a:prstGeom prst="roundRect">
            <a:avLst>
              <a:gd name="adj" fmla="val 8000"/>
            </a:avLst>
          </a:prstGeom>
          <a:solidFill>
            <a:srgbClr val="3D3B8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r>
              <a:rPr sz="1250" b="1" i="0">
                <a:solidFill>
                  <a:srgbClr val="FFFFFF"/>
                </a:solidFill>
                <a:latin typeface="Arial"/>
              </a:rPr>
              <a:t>6. Conclusion</a:t>
            </a:r>
          </a:p>
        </p:txBody>
      </p:sp>
      <p:sp>
        <p:nvSpPr>
          <p:cNvPr id="102" name="6. Conclusion text"/>
          <p:cNvSpPr txBox="1"/>
          <p:nvPr/>
        </p:nvSpPr>
        <p:spPr>
          <a:xfrm>
            <a:off x="10197571" y="7427976"/>
            <a:ext cx="2801721" cy="1365503"/>
          </a:xfrm>
          <a:prstGeom prst="rect">
            <a:avLst/>
          </a:prstGeom>
          <a:noFill/>
        </p:spPr>
        <p:txBody>
          <a:bodyPr wrap="square" lIns="54864" rIns="54864" tIns="27432" bIns="27432" anchor="t"/>
          <a:lstStyle/>
          <a:p>
            <a:pPr marL="118872" indent="-118872">
              <a:lnSpc>
                <a:spcPct val="100000"/>
              </a:lnSpc>
              <a:spcAft>
                <a:spcPts val="200"/>
              </a:spcAft>
              <a:buClr>
                <a:srgbClr val="3D3B8E"/>
              </a:buClr>
              <a:buFont typeface="Arial"/>
              <a:buChar char="•"/>
            </a:pPr>
            <a:r>
              <a:rPr sz="900" b="0" i="0">
                <a:solidFill>
                  <a:srgbClr val="1F2937"/>
                </a:solidFill>
                <a:latin typeface="Arial"/>
              </a:rPr>
              <a:t>Childhood is a period of consistent development, more efficient thinking and social world.</a:t>
            </a:r>
          </a:p>
          <a:p>
            <a:pPr marL="118872" indent="-118872">
              <a:lnSpc>
                <a:spcPct val="100000"/>
              </a:lnSpc>
              <a:spcAft>
                <a:spcPts val="200"/>
              </a:spcAft>
              <a:buClr>
                <a:srgbClr val="3D3B8E"/>
              </a:buClr>
              <a:buFont typeface="Arial"/>
              <a:buChar char="•"/>
            </a:pPr>
            <a:r>
              <a:rPr sz="900" b="0" i="0">
                <a:solidFill>
                  <a:srgbClr val="1F2937"/>
                </a:solidFill>
                <a:latin typeface="Arial"/>
              </a:rPr>
              <a:t>Changes in the biological, psychological and social levels are </a:t>
            </a:r>
            <a:r>
              <a:rPr sz="900" b="1" i="0">
                <a:solidFill>
                  <a:srgbClr val="3D3B8E"/>
                </a:solidFill>
                <a:latin typeface="Arial"/>
              </a:rPr>
              <a:t>interrelated</a:t>
            </a:r>
            <a:r>
              <a:rPr sz="900" b="0" i="0">
                <a:solidFill>
                  <a:srgbClr val="1F2937"/>
                </a:solidFill>
                <a:latin typeface="Arial"/>
              </a:rPr>
              <a:t>, rather than independent.</a:t>
            </a:r>
          </a:p>
          <a:p>
            <a:pPr marL="118872" indent="-118872">
              <a:lnSpc>
                <a:spcPct val="100000"/>
              </a:lnSpc>
              <a:spcAft>
                <a:spcPts val="200"/>
              </a:spcAft>
              <a:buClr>
                <a:srgbClr val="3D3B8E"/>
              </a:buClr>
              <a:buFont typeface="Arial"/>
              <a:buChar char="•"/>
            </a:pPr>
            <a:r>
              <a:rPr sz="900" b="0" i="0">
                <a:solidFill>
                  <a:srgbClr val="1F2937"/>
                </a:solidFill>
                <a:latin typeface="Arial"/>
              </a:rPr>
              <a:t>Piaget, Erikson and Bronfenbrenner may be different in their focus, but they all concur that children are </a:t>
            </a:r>
            <a:r>
              <a:rPr sz="900" b="1" i="0">
                <a:solidFill>
                  <a:srgbClr val="3D3B8E"/>
                </a:solidFill>
                <a:latin typeface="Arial"/>
              </a:rPr>
              <a:t>active</a:t>
            </a:r>
            <a:r>
              <a:rPr sz="900" b="0" i="0">
                <a:solidFill>
                  <a:srgbClr val="1F2937"/>
                </a:solidFill>
                <a:latin typeface="Arial"/>
              </a:rPr>
              <a:t> and that the </a:t>
            </a:r>
            <a:r>
              <a:rPr sz="900" b="1" i="0">
                <a:solidFill>
                  <a:srgbClr val="3D3B8E"/>
                </a:solidFill>
                <a:latin typeface="Arial"/>
              </a:rPr>
              <a:t>environment does matter</a:t>
            </a:r>
            <a:r>
              <a:rPr sz="900" b="0" i="0">
                <a:solidFill>
                  <a:srgbClr val="1F2937"/>
                </a:solidFill>
                <a:latin typeface="Arial"/>
              </a:rPr>
              <a:t>.</a:t>
            </a:r>
          </a:p>
        </p:txBody>
      </p:sp>
      <p:sp>
        <p:nvSpPr>
          <p:cNvPr id="103" name="6. Conclusion text"/>
          <p:cNvSpPr txBox="1"/>
          <p:nvPr/>
        </p:nvSpPr>
        <p:spPr>
          <a:xfrm>
            <a:off x="13419917" y="7427976"/>
            <a:ext cx="2655234" cy="928624"/>
          </a:xfrm>
          <a:prstGeom prst="rect">
            <a:avLst/>
          </a:prstGeom>
          <a:noFill/>
        </p:spPr>
        <p:txBody>
          <a:bodyPr wrap="square" lIns="54864" rIns="54864" tIns="27432" bIns="27432" anchor="t"/>
          <a:lstStyle/>
          <a:p>
            <a:pPr marL="118872" indent="-118872">
              <a:lnSpc>
                <a:spcPct val="100000"/>
              </a:lnSpc>
              <a:spcAft>
                <a:spcPts val="200"/>
              </a:spcAft>
              <a:buClr>
                <a:srgbClr val="3D3B8E"/>
              </a:buClr>
              <a:buFont typeface="Arial"/>
              <a:buChar char="•"/>
            </a:pPr>
            <a:r>
              <a:rPr sz="900" b="0" i="0">
                <a:solidFill>
                  <a:srgbClr val="1F2937"/>
                </a:solidFill>
                <a:latin typeface="Arial"/>
              </a:rPr>
              <a:t>Development can be damaged by poverty, poor diet and ACEs. It is safeguarded by </a:t>
            </a:r>
            <a:r>
              <a:rPr sz="900" b="1" i="0">
                <a:solidFill>
                  <a:srgbClr val="3D3B8E"/>
                </a:solidFill>
                <a:latin typeface="Arial"/>
              </a:rPr>
              <a:t>caring relationships</a:t>
            </a:r>
            <a:r>
              <a:rPr sz="900" b="0" i="0">
                <a:solidFill>
                  <a:srgbClr val="1F2937"/>
                </a:solidFill>
                <a:latin typeface="Arial"/>
              </a:rPr>
              <a:t>.</a:t>
            </a:r>
          </a:p>
          <a:p>
            <a:pPr marL="118872" indent="-118872">
              <a:lnSpc>
                <a:spcPct val="100000"/>
              </a:lnSpc>
              <a:spcAft>
                <a:spcPts val="200"/>
              </a:spcAft>
              <a:buClr>
                <a:srgbClr val="3D3B8E"/>
              </a:buClr>
              <a:buFont typeface="Arial"/>
              <a:buChar char="•"/>
            </a:pPr>
            <a:r>
              <a:rPr sz="900" b="1" i="0">
                <a:solidFill>
                  <a:srgbClr val="3D3B8E"/>
                </a:solidFill>
                <a:latin typeface="Arial"/>
              </a:rPr>
              <a:t>Key message:</a:t>
            </a:r>
            <a:r>
              <a:rPr sz="900" b="0" i="0">
                <a:solidFill>
                  <a:srgbClr val="1F2937"/>
                </a:solidFill>
                <a:latin typeface="Arial"/>
              </a:rPr>
              <a:t> look at the whole child in his entirety (Boyd and Bee, 2019; Rosa and Tudge, 2013).</a:t>
            </a:r>
          </a:p>
        </p:txBody>
      </p:sp>
      <p:sp>
        <p:nvSpPr>
          <p:cNvPr id="104" name="Flow arrow right"/>
          <p:cNvSpPr/>
          <p:nvPr/>
        </p:nvSpPr>
        <p:spPr>
          <a:xfrm>
            <a:off x="9868387" y="6317488"/>
            <a:ext cx="237744" cy="274320"/>
          </a:xfrm>
          <a:prstGeom prst="rightArrow">
            <a:avLst/>
          </a:prstGeom>
          <a:solidFill>
            <a:srgbClr val="B44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low arrow down"/>
          <p:cNvSpPr/>
          <p:nvPr/>
        </p:nvSpPr>
        <p:spPr>
          <a:xfrm>
            <a:off x="13017489" y="6879336"/>
            <a:ext cx="237744" cy="164592"/>
          </a:xfrm>
          <a:prstGeom prst="downArrow">
            <a:avLst/>
          </a:prstGeom>
          <a:solidFill>
            <a:srgbClr val="24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5544800" cy="548640"/>
          </a:xfrm>
          <a:prstGeom prst="rect">
            <a:avLst/>
          </a:prstGeom>
          <a:noFill/>
        </p:spPr>
        <p:txBody>
          <a:bodyPr wrap="square" lIns="54864" rIns="54864" tIns="27432" bIns="27432" anchor="ctr"/>
          <a:lstStyle/>
          <a:p>
            <a:pPr algn="ctr"/>
            <a:r>
              <a:rPr sz="2800" b="0" i="0">
                <a:solidFill>
                  <a:srgbClr val="000000"/>
                </a:solidFill>
                <a:latin typeface="Arial"/>
              </a:rPr>
              <a:t>Annotated Bibliography</a:t>
            </a:r>
          </a:p>
        </p:txBody>
      </p:sp>
      <p:sp>
        <p:nvSpPr>
          <p:cNvPr id="3" name="TextBox 2"/>
          <p:cNvSpPr txBox="1"/>
          <p:nvPr/>
        </p:nvSpPr>
        <p:spPr>
          <a:xfrm>
            <a:off x="457200" y="914400"/>
            <a:ext cx="6949440" cy="274320"/>
          </a:xfrm>
          <a:prstGeom prst="rect">
            <a:avLst/>
          </a:prstGeom>
          <a:noFill/>
        </p:spPr>
        <p:txBody>
          <a:bodyPr wrap="square" lIns="36576" rIns="36576" tIns="18288" bIns="18288" anchor="t"/>
          <a:lstStyle/>
          <a:p>
            <a:r>
              <a:rPr sz="1300" b="1" i="0">
                <a:solidFill>
                  <a:srgbClr val="000000"/>
                </a:solidFill>
                <a:latin typeface="Arial"/>
              </a:rPr>
              <a:t>Reference list</a:t>
            </a:r>
          </a:p>
        </p:txBody>
      </p:sp>
      <p:sp>
        <p:nvSpPr>
          <p:cNvPr id="4" name="TextBox 3"/>
          <p:cNvSpPr txBox="1"/>
          <p:nvPr/>
        </p:nvSpPr>
        <p:spPr>
          <a:xfrm>
            <a:off x="7680960" y="914400"/>
            <a:ext cx="8321040" cy="274320"/>
          </a:xfrm>
          <a:prstGeom prst="rect">
            <a:avLst/>
          </a:prstGeom>
          <a:noFill/>
        </p:spPr>
        <p:txBody>
          <a:bodyPr wrap="square" lIns="36576" rIns="36576" tIns="18288" bIns="18288" anchor="t"/>
          <a:lstStyle/>
          <a:p>
            <a:r>
              <a:rPr sz="1300" b="1" i="0">
                <a:solidFill>
                  <a:srgbClr val="000000"/>
                </a:solidFill>
                <a:latin typeface="Arial"/>
              </a:rPr>
              <a:t>Annotations</a:t>
            </a:r>
          </a:p>
        </p:txBody>
      </p:sp>
      <p:cxnSp>
        <p:nvCxnSpPr>
          <p:cNvPr id="5" name="Connector 4"/>
          <p:cNvCxnSpPr/>
          <p:nvPr/>
        </p:nvCxnSpPr>
        <p:spPr>
          <a:xfrm>
            <a:off x="457200" y="1216151"/>
            <a:ext cx="1554480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1243584"/>
            <a:ext cx="6949440" cy="704088"/>
          </a:xfrm>
          <a:prstGeom prst="rect">
            <a:avLst/>
          </a:prstGeom>
          <a:noFill/>
        </p:spPr>
        <p:txBody>
          <a:bodyPr wrap="square" lIns="36576" rIns="36576" tIns="18288" bIns="18288" anchor="t"/>
          <a:lstStyle/>
          <a:p>
            <a:pPr>
              <a:lnSpc>
                <a:spcPct val="100000"/>
              </a:lnSpc>
            </a:pPr>
            <a:r>
              <a:rPr sz="1050" b="1" i="0" u="sng">
                <a:solidFill>
                  <a:srgbClr val="000000"/>
                </a:solidFill>
                <a:latin typeface="Arial"/>
              </a:rPr>
              <a:t>Boyd, D.R. and Bee, H.L. (2019). </a:t>
            </a:r>
            <a:r>
              <a:rPr sz="1050" b="1" i="1" u="sng">
                <a:solidFill>
                  <a:srgbClr val="000000"/>
                </a:solidFill>
                <a:latin typeface="Arial"/>
              </a:rPr>
              <a:t>Lifespan development</a:t>
            </a:r>
            <a:r>
              <a:rPr sz="1050" b="1" i="0" u="sng">
                <a:solidFill>
                  <a:srgbClr val="000000"/>
                </a:solidFill>
                <a:latin typeface="Arial"/>
              </a:rPr>
              <a:t>. 8th ed. Harlow: Pearson.</a:t>
            </a:r>
          </a:p>
        </p:txBody>
      </p:sp>
      <p:sp>
        <p:nvSpPr>
          <p:cNvPr id="7" name="TextBox 6"/>
          <p:cNvSpPr txBox="1"/>
          <p:nvPr/>
        </p:nvSpPr>
        <p:spPr>
          <a:xfrm>
            <a:off x="7680960" y="1243584"/>
            <a:ext cx="8321040" cy="704088"/>
          </a:xfrm>
          <a:prstGeom prst="rect">
            <a:avLst/>
          </a:prstGeom>
          <a:noFill/>
        </p:spPr>
        <p:txBody>
          <a:bodyPr wrap="square" lIns="36576" rIns="36576" tIns="18288" bIns="18288" anchor="t"/>
          <a:lstStyle/>
          <a:p>
            <a:pPr algn="just">
              <a:lnSpc>
                <a:spcPct val="100000"/>
              </a:lnSpc>
            </a:pPr>
            <a:r>
              <a:rPr sz="1050" b="0" i="0">
                <a:solidFill>
                  <a:srgbClr val="000000"/>
                </a:solidFill>
                <a:latin typeface="Arial"/>
              </a:rPr>
              <a:t>Boyd and Bee are renowned authors of developmental psychology, and this is the fundamental book of the text of the module. It describes Piaget, Erikson and Bronfenbrenner, and childhood development, play and friendship. It is a secondary source, and therefore, important concepts were verified with journal articles. It provided a consistent foundation to definitions and stage ages. It had a backing of all parts of the poster.</a:t>
            </a:r>
          </a:p>
        </p:txBody>
      </p:sp>
      <p:sp>
        <p:nvSpPr>
          <p:cNvPr id="8" name="TextBox 7"/>
          <p:cNvSpPr txBox="1"/>
          <p:nvPr/>
        </p:nvSpPr>
        <p:spPr>
          <a:xfrm>
            <a:off x="457200" y="2029967"/>
            <a:ext cx="6949440" cy="864108"/>
          </a:xfrm>
          <a:prstGeom prst="rect">
            <a:avLst/>
          </a:prstGeom>
          <a:noFill/>
        </p:spPr>
        <p:txBody>
          <a:bodyPr wrap="square" lIns="36576" rIns="36576" tIns="18288" bIns="18288" anchor="t"/>
          <a:lstStyle/>
          <a:p>
            <a:pPr>
              <a:lnSpc>
                <a:spcPct val="100000"/>
              </a:lnSpc>
            </a:pPr>
            <a:r>
              <a:rPr sz="1050" b="1" i="0" u="sng">
                <a:solidFill>
                  <a:srgbClr val="000000"/>
                </a:solidFill>
                <a:latin typeface="Arial"/>
              </a:rPr>
              <a:t>DWP (2026). </a:t>
            </a:r>
            <a:r>
              <a:rPr sz="1050" b="1" i="1" u="sng">
                <a:solidFill>
                  <a:srgbClr val="000000"/>
                </a:solidFill>
                <a:latin typeface="Arial"/>
              </a:rPr>
              <a:t>Households below average income: An analysis of the UK income distribution: FYE 1995 to FYE 2025</a:t>
            </a:r>
            <a:r>
              <a:rPr sz="1050" b="1" i="0" u="sng">
                <a:solidFill>
                  <a:srgbClr val="000000"/>
                </a:solidFill>
                <a:latin typeface="Arial"/>
              </a:rPr>
              <a:t>. [online] GOV.UK. Available at: https://www.gov.uk/government/statistics/households-below-average-income-for-financial-years-ending-1995-to-2025/households-below-average-income-an-analysis-of-the-uk-income-distribution-fye-1995-to-fye-2025 [Accessed 1 Nov. 2026].</a:t>
            </a:r>
          </a:p>
        </p:txBody>
      </p:sp>
      <p:sp>
        <p:nvSpPr>
          <p:cNvPr id="9" name="TextBox 8"/>
          <p:cNvSpPr txBox="1"/>
          <p:nvPr/>
        </p:nvSpPr>
        <p:spPr>
          <a:xfrm>
            <a:off x="7680960" y="2029967"/>
            <a:ext cx="8321040" cy="864108"/>
          </a:xfrm>
          <a:prstGeom prst="rect">
            <a:avLst/>
          </a:prstGeom>
          <a:noFill/>
        </p:spPr>
        <p:txBody>
          <a:bodyPr wrap="square" lIns="36576" rIns="36576" tIns="18288" bIns="18288" anchor="t"/>
          <a:lstStyle/>
          <a:p>
            <a:pPr algn="just">
              <a:lnSpc>
                <a:spcPct val="100000"/>
              </a:lnSpc>
            </a:pPr>
            <a:r>
              <a:rPr sz="1050" b="0" i="0">
                <a:solidFill>
                  <a:srgbClr val="000000"/>
                </a:solidFill>
                <a:latin typeface="Arial"/>
              </a:rPr>
              <a:t>This is an official report based on accredited government statistics in a survey of 16,299 households in the UK. It is the UK’s main source of poverty statistics. It provided the child poverty statistics of 2024/25. There is a level of uncertainty in survey results and a change in methods will impinge on comparisons with previous years. It helped in backing the poverty section.</a:t>
            </a:r>
          </a:p>
        </p:txBody>
      </p:sp>
      <p:sp>
        <p:nvSpPr>
          <p:cNvPr id="10" name="TextBox 9"/>
          <p:cNvSpPr txBox="1"/>
          <p:nvPr/>
        </p:nvSpPr>
        <p:spPr>
          <a:xfrm>
            <a:off x="457200" y="2976372"/>
            <a:ext cx="6949440" cy="544068"/>
          </a:xfrm>
          <a:prstGeom prst="rect">
            <a:avLst/>
          </a:prstGeom>
          <a:noFill/>
        </p:spPr>
        <p:txBody>
          <a:bodyPr wrap="square" lIns="36576" rIns="36576" tIns="18288" bIns="18288" anchor="t"/>
          <a:lstStyle/>
          <a:p>
            <a:pPr>
              <a:lnSpc>
                <a:spcPct val="100000"/>
              </a:lnSpc>
            </a:pPr>
            <a:r>
              <a:rPr sz="1050" b="1" i="0" u="sng">
                <a:solidFill>
                  <a:srgbClr val="000000"/>
                </a:solidFill>
                <a:latin typeface="Arial"/>
              </a:rPr>
              <a:t>Feldman, R.S. (2011). </a:t>
            </a:r>
            <a:r>
              <a:rPr sz="1050" b="1" i="1" u="sng">
                <a:solidFill>
                  <a:srgbClr val="000000"/>
                </a:solidFill>
                <a:latin typeface="Arial"/>
              </a:rPr>
              <a:t>Development across the life span</a:t>
            </a:r>
            <a:r>
              <a:rPr sz="1050" b="1" i="0" u="sng">
                <a:solidFill>
                  <a:srgbClr val="000000"/>
                </a:solidFill>
                <a:latin typeface="Arial"/>
              </a:rPr>
              <a:t>. Pearson Prentice Hall.</a:t>
            </a:r>
          </a:p>
        </p:txBody>
      </p:sp>
      <p:sp>
        <p:nvSpPr>
          <p:cNvPr id="11" name="TextBox 10"/>
          <p:cNvSpPr txBox="1"/>
          <p:nvPr/>
        </p:nvSpPr>
        <p:spPr>
          <a:xfrm>
            <a:off x="7680960" y="2976372"/>
            <a:ext cx="8321040" cy="544068"/>
          </a:xfrm>
          <a:prstGeom prst="rect">
            <a:avLst/>
          </a:prstGeom>
          <a:noFill/>
        </p:spPr>
        <p:txBody>
          <a:bodyPr wrap="square" lIns="36576" rIns="36576" tIns="18288" bIns="18288" anchor="t"/>
          <a:lstStyle/>
          <a:p>
            <a:pPr algn="just">
              <a:lnSpc>
                <a:spcPct val="100000"/>
              </a:lnSpc>
            </a:pPr>
            <a:r>
              <a:rPr sz="1050" b="0" i="0">
                <a:solidFill>
                  <a:srgbClr val="000000"/>
                </a:solidFill>
                <a:latin typeface="Arial"/>
              </a:rPr>
              <a:t>Feldman is a seasoned professor of psychology and this textbook deals with lifelong development. It describes the stages of Erikson in simple language. It also draws parallels between Erikson and Freud. It is of an older nature and thus current evidence was taken up in newer sources. It assisted in verifying the Erikson section.</a:t>
            </a:r>
          </a:p>
        </p:txBody>
      </p:sp>
      <p:sp>
        <p:nvSpPr>
          <p:cNvPr id="12" name="TextBox 11"/>
          <p:cNvSpPr txBox="1"/>
          <p:nvPr/>
        </p:nvSpPr>
        <p:spPr>
          <a:xfrm>
            <a:off x="457200" y="3602736"/>
            <a:ext cx="6949440" cy="544068"/>
          </a:xfrm>
          <a:prstGeom prst="rect">
            <a:avLst/>
          </a:prstGeom>
          <a:noFill/>
        </p:spPr>
        <p:txBody>
          <a:bodyPr wrap="square" lIns="36576" rIns="36576" tIns="18288" bIns="18288" anchor="t"/>
          <a:lstStyle/>
          <a:p>
            <a:pPr>
              <a:lnSpc>
                <a:spcPct val="100000"/>
              </a:lnSpc>
            </a:pPr>
            <a:r>
              <a:rPr sz="1050" b="1" i="0" u="sng">
                <a:solidFill>
                  <a:srgbClr val="000000"/>
                </a:solidFill>
                <a:latin typeface="Arial"/>
              </a:rPr>
              <a:t>Groh, A.M., Fearon, R.P., Bakermans-Kranenburg, M.J., van IJzendoorn, M.H., Steele, R.D. and Roisman, G.I. (2014). The significance of attachment security for children’s social competence with peers: A meta-analytic study. </a:t>
            </a:r>
            <a:r>
              <a:rPr sz="1050" b="1" i="1" u="sng">
                <a:solidFill>
                  <a:srgbClr val="000000"/>
                </a:solidFill>
                <a:latin typeface="Arial"/>
              </a:rPr>
              <a:t>Attachment &amp; Human Development</a:t>
            </a:r>
            <a:r>
              <a:rPr sz="1050" b="1" i="0" u="sng">
                <a:solidFill>
                  <a:srgbClr val="000000"/>
                </a:solidFill>
                <a:latin typeface="Arial"/>
              </a:rPr>
              <a:t>, 16(2), pp.103–136. doi:10.1080/14616734.2014.883636.</a:t>
            </a:r>
          </a:p>
        </p:txBody>
      </p:sp>
      <p:sp>
        <p:nvSpPr>
          <p:cNvPr id="13" name="TextBox 12"/>
          <p:cNvSpPr txBox="1"/>
          <p:nvPr/>
        </p:nvSpPr>
        <p:spPr>
          <a:xfrm>
            <a:off x="7680960" y="3602736"/>
            <a:ext cx="8321040" cy="544068"/>
          </a:xfrm>
          <a:prstGeom prst="rect">
            <a:avLst/>
          </a:prstGeom>
          <a:noFill/>
        </p:spPr>
        <p:txBody>
          <a:bodyPr wrap="square" lIns="36576" rIns="36576" tIns="18288" bIns="18288" anchor="t"/>
          <a:lstStyle/>
          <a:p>
            <a:pPr algn="just">
              <a:lnSpc>
                <a:spcPct val="100000"/>
              </a:lnSpc>
            </a:pPr>
            <a:r>
              <a:rPr sz="1050" b="0" i="0">
                <a:solidFill>
                  <a:srgbClr val="000000"/>
                </a:solidFill>
                <a:latin typeface="Arial"/>
              </a:rPr>
              <a:t>This meta-analysis of the most influential attachment scholars combined 80 samples (4,441 children). It discovered safe attachment connections to enhanced peer skills. It has a big sample strength, although the studies present correlation, not causation. It backed the family segment.</a:t>
            </a:r>
          </a:p>
        </p:txBody>
      </p:sp>
      <p:sp>
        <p:nvSpPr>
          <p:cNvPr id="14" name="TextBox 13"/>
          <p:cNvSpPr txBox="1"/>
          <p:nvPr/>
        </p:nvSpPr>
        <p:spPr>
          <a:xfrm>
            <a:off x="457200" y="4229100"/>
            <a:ext cx="6949440" cy="704088"/>
          </a:xfrm>
          <a:prstGeom prst="rect">
            <a:avLst/>
          </a:prstGeom>
          <a:noFill/>
        </p:spPr>
        <p:txBody>
          <a:bodyPr wrap="square" lIns="36576" rIns="36576" tIns="18288" bIns="18288" anchor="t"/>
          <a:lstStyle/>
          <a:p>
            <a:pPr>
              <a:lnSpc>
                <a:spcPct val="100000"/>
              </a:lnSpc>
            </a:pPr>
            <a:r>
              <a:rPr sz="1050" b="1" i="0" u="sng">
                <a:solidFill>
                  <a:srgbClr val="000000"/>
                </a:solidFill>
                <a:latin typeface="Arial"/>
              </a:rPr>
              <a:t>Hughes, K., Bellis, M.A., Hardcastle, K.A., Sethi, D., Butchart, A., Mikton, C., Jones, L. and Dunne, M.P. (2017). The effect of multiple adverse childhood experiences on health: A systematic review and meta-analysis. </a:t>
            </a:r>
            <a:r>
              <a:rPr sz="1050" b="1" i="1" u="sng">
                <a:solidFill>
                  <a:srgbClr val="000000"/>
                </a:solidFill>
                <a:latin typeface="Arial"/>
              </a:rPr>
              <a:t>The Lancet Public Health</a:t>
            </a:r>
            <a:r>
              <a:rPr sz="1050" b="1" i="0" u="sng">
                <a:solidFill>
                  <a:srgbClr val="000000"/>
                </a:solidFill>
                <a:latin typeface="Arial"/>
              </a:rPr>
              <a:t>, [online] 2(8), pp.356–366. Available at: https://www.thelancet.com/journals/lanpub/article/PIIS2468-2667(17)30118-4/fulltext [Accessed 1 Nov. 2026].</a:t>
            </a:r>
          </a:p>
        </p:txBody>
      </p:sp>
      <p:sp>
        <p:nvSpPr>
          <p:cNvPr id="15" name="TextBox 14"/>
          <p:cNvSpPr txBox="1"/>
          <p:nvPr/>
        </p:nvSpPr>
        <p:spPr>
          <a:xfrm>
            <a:off x="7680960" y="4229100"/>
            <a:ext cx="8321040" cy="704088"/>
          </a:xfrm>
          <a:prstGeom prst="rect">
            <a:avLst/>
          </a:prstGeom>
          <a:noFill/>
        </p:spPr>
        <p:txBody>
          <a:bodyPr wrap="square" lIns="36576" rIns="36576" tIns="18288" bIns="18288" anchor="t"/>
          <a:lstStyle/>
          <a:p>
            <a:pPr algn="just">
              <a:lnSpc>
                <a:spcPct val="100000"/>
              </a:lnSpc>
            </a:pPr>
            <a:r>
              <a:rPr sz="1050" b="0" i="0">
                <a:solidFill>
                  <a:srgbClr val="000000"/>
                </a:solidFill>
                <a:latin typeface="Arial"/>
              </a:rPr>
              <a:t>This WHO-associated systematic review combined 37 articles that comprised 253,719 adults. It demonstrates that four or more ACEs increase numerous risks to health. Majority of the research was based on the recollection of childhood by the adults and this could be untrue. It sponsored the ACEs section.</a:t>
            </a:r>
          </a:p>
        </p:txBody>
      </p:sp>
      <p:sp>
        <p:nvSpPr>
          <p:cNvPr id="16" name="TextBox 15"/>
          <p:cNvSpPr txBox="1"/>
          <p:nvPr/>
        </p:nvSpPr>
        <p:spPr>
          <a:xfrm>
            <a:off x="457200" y="5015484"/>
            <a:ext cx="6949440" cy="864108"/>
          </a:xfrm>
          <a:prstGeom prst="rect">
            <a:avLst/>
          </a:prstGeom>
          <a:noFill/>
        </p:spPr>
        <p:txBody>
          <a:bodyPr wrap="square" lIns="36576" rIns="36576" tIns="18288" bIns="18288" anchor="t"/>
          <a:lstStyle/>
          <a:p>
            <a:pPr>
              <a:lnSpc>
                <a:spcPct val="100000"/>
              </a:lnSpc>
            </a:pPr>
            <a:r>
              <a:rPr sz="1050" b="1" i="0" u="sng">
                <a:solidFill>
                  <a:srgbClr val="000000"/>
                </a:solidFill>
                <a:latin typeface="Arial"/>
              </a:rPr>
              <a:t>Noble, K.G., Houston, S.M., Brito, N.H., Bartsch, H., Kan, E., Kuperman, J.M., Akshoomoff, N., Amaral, D.G., Bloss, C.S., Libiger, O., Schork, N.J., Murray, S.S., Casey, B.J., Chang, L., Ernst, T.M., Frazier, J.A., Gruen, J.R., Kennedy, D.N., Van Zijl, P., Mostofsky, S., Kaufmann, W.E., Kenet, T., Dale, A.M., Jernigan, T.L. and Sowell, E.R. (2015). Family income, parental education and brain structure in children and adolescents. </a:t>
            </a:r>
            <a:r>
              <a:rPr sz="1050" b="1" i="1" u="sng">
                <a:solidFill>
                  <a:srgbClr val="000000"/>
                </a:solidFill>
                <a:latin typeface="Arial"/>
              </a:rPr>
              <a:t>Nature Neuroscience</a:t>
            </a:r>
            <a:r>
              <a:rPr sz="1050" b="1" i="0" u="sng">
                <a:solidFill>
                  <a:srgbClr val="000000"/>
                </a:solidFill>
                <a:latin typeface="Arial"/>
              </a:rPr>
              <a:t>, [online] 18(5), pp.773–778. doi:10.1038/nn.3983.</a:t>
            </a:r>
          </a:p>
        </p:txBody>
      </p:sp>
      <p:sp>
        <p:nvSpPr>
          <p:cNvPr id="17" name="TextBox 16"/>
          <p:cNvSpPr txBox="1"/>
          <p:nvPr/>
        </p:nvSpPr>
        <p:spPr>
          <a:xfrm>
            <a:off x="7680960" y="5015484"/>
            <a:ext cx="8321040" cy="864108"/>
          </a:xfrm>
          <a:prstGeom prst="rect">
            <a:avLst/>
          </a:prstGeom>
          <a:noFill/>
        </p:spPr>
        <p:txBody>
          <a:bodyPr wrap="square" lIns="36576" rIns="36576" tIns="18288" bIns="18288" anchor="t"/>
          <a:lstStyle/>
          <a:p>
            <a:pPr algn="just">
              <a:lnSpc>
                <a:spcPct val="100000"/>
              </a:lnSpc>
            </a:pPr>
            <a:r>
              <a:rPr sz="1050" b="0" i="0">
                <a:solidFill>
                  <a:srgbClr val="000000"/>
                </a:solidFill>
                <a:latin typeface="Arial"/>
              </a:rPr>
              <a:t>In this study, Nature Neuroscience researchers scanned the brains of 1,099 youngsters aged 3 to 20. It discovered that family income correlates with surface area of the brain, which is highest with poor families. It was cross-sectional hence could not prove cause. It helped the section of poverty.</a:t>
            </a:r>
          </a:p>
        </p:txBody>
      </p:sp>
      <p:sp>
        <p:nvSpPr>
          <p:cNvPr id="18" name="TextBox 17"/>
          <p:cNvSpPr txBox="1"/>
          <p:nvPr/>
        </p:nvSpPr>
        <p:spPr>
          <a:xfrm>
            <a:off x="457200" y="5961888"/>
            <a:ext cx="6949440" cy="704088"/>
          </a:xfrm>
          <a:prstGeom prst="rect">
            <a:avLst/>
          </a:prstGeom>
          <a:noFill/>
        </p:spPr>
        <p:txBody>
          <a:bodyPr wrap="square" lIns="36576" rIns="36576" tIns="18288" bIns="18288" anchor="t"/>
          <a:lstStyle/>
          <a:p>
            <a:pPr>
              <a:lnSpc>
                <a:spcPct val="100000"/>
              </a:lnSpc>
            </a:pPr>
            <a:r>
              <a:rPr sz="1050" b="1" i="0" u="sng">
                <a:solidFill>
                  <a:srgbClr val="000000"/>
                </a:solidFill>
                <a:latin typeface="Arial"/>
              </a:rPr>
              <a:t>OHID (2025). </a:t>
            </a:r>
            <a:r>
              <a:rPr sz="1050" b="1" i="1" u="sng">
                <a:solidFill>
                  <a:srgbClr val="000000"/>
                </a:solidFill>
                <a:latin typeface="Arial"/>
              </a:rPr>
              <a:t>National child measurement programme (NCMP) annual report, academic year 2024 to 2025, England</a:t>
            </a:r>
            <a:r>
              <a:rPr sz="1050" b="1" i="0" u="sng">
                <a:solidFill>
                  <a:srgbClr val="000000"/>
                </a:solidFill>
                <a:latin typeface="Arial"/>
              </a:rPr>
              <a:t>. [online] GOV.UK. Available at: https://www.gov.uk/government/statistics/national-child-measurement-programme-ncmp-annual-report-academic-year-2024-to-2025-england [Accessed 1 Nov. 2026].</a:t>
            </a:r>
          </a:p>
        </p:txBody>
      </p:sp>
      <p:sp>
        <p:nvSpPr>
          <p:cNvPr id="19" name="TextBox 18"/>
          <p:cNvSpPr txBox="1"/>
          <p:nvPr/>
        </p:nvSpPr>
        <p:spPr>
          <a:xfrm>
            <a:off x="7680960" y="5961888"/>
            <a:ext cx="8321040" cy="704088"/>
          </a:xfrm>
          <a:prstGeom prst="rect">
            <a:avLst/>
          </a:prstGeom>
          <a:noFill/>
        </p:spPr>
        <p:txBody>
          <a:bodyPr wrap="square" lIns="36576" rIns="36576" tIns="18288" bIns="18288" anchor="t"/>
          <a:lstStyle/>
          <a:p>
            <a:pPr algn="just">
              <a:lnSpc>
                <a:spcPct val="100000"/>
              </a:lnSpc>
            </a:pPr>
            <a:r>
              <a:rPr sz="1050" b="0" i="0">
                <a:solidFill>
                  <a:srgbClr val="000000"/>
                </a:solidFill>
                <a:latin typeface="Arial"/>
              </a:rPr>
              <a:t>This was an official report in which more than one million kids in England were estimated. It provided rates of obesity and deprivation gap. It only encompasses Reception and Year 6, and body mass index is not a direct indicator of body fat. It was in support of the nutrition section.</a:t>
            </a:r>
          </a:p>
        </p:txBody>
      </p:sp>
      <p:sp>
        <p:nvSpPr>
          <p:cNvPr id="20" name="TextBox 19"/>
          <p:cNvSpPr txBox="1"/>
          <p:nvPr/>
        </p:nvSpPr>
        <p:spPr>
          <a:xfrm>
            <a:off x="457200" y="6748272"/>
            <a:ext cx="6949440" cy="544068"/>
          </a:xfrm>
          <a:prstGeom prst="rect">
            <a:avLst/>
          </a:prstGeom>
          <a:noFill/>
        </p:spPr>
        <p:txBody>
          <a:bodyPr wrap="square" lIns="36576" rIns="36576" tIns="18288" bIns="18288" anchor="t"/>
          <a:lstStyle/>
          <a:p>
            <a:pPr>
              <a:lnSpc>
                <a:spcPct val="100000"/>
              </a:lnSpc>
            </a:pPr>
            <a:r>
              <a:rPr sz="1050" b="1" i="0" u="sng">
                <a:solidFill>
                  <a:srgbClr val="000000"/>
                </a:solidFill>
                <a:latin typeface="Arial"/>
              </a:rPr>
              <a:t>Rosa, E.M. and Tudge, J. (2013). Urie Bronfenbrenner’s theory of human development: Its evolution from ecology to bioecology. </a:t>
            </a:r>
            <a:r>
              <a:rPr sz="1050" b="1" i="1" u="sng">
                <a:solidFill>
                  <a:srgbClr val="000000"/>
                </a:solidFill>
                <a:latin typeface="Arial"/>
              </a:rPr>
              <a:t>Journal of Family Theory &amp; Review</a:t>
            </a:r>
            <a:r>
              <a:rPr sz="1050" b="1" i="0" u="sng">
                <a:solidFill>
                  <a:srgbClr val="000000"/>
                </a:solidFill>
                <a:latin typeface="Arial"/>
              </a:rPr>
              <a:t>, [online] 5(4), pp.243–258. doi:10.1111/jftr.12022.</a:t>
            </a:r>
          </a:p>
        </p:txBody>
      </p:sp>
      <p:sp>
        <p:nvSpPr>
          <p:cNvPr id="21" name="TextBox 20"/>
          <p:cNvSpPr txBox="1"/>
          <p:nvPr/>
        </p:nvSpPr>
        <p:spPr>
          <a:xfrm>
            <a:off x="7680960" y="6748272"/>
            <a:ext cx="8321040" cy="544068"/>
          </a:xfrm>
          <a:prstGeom prst="rect">
            <a:avLst/>
          </a:prstGeom>
          <a:noFill/>
        </p:spPr>
        <p:txBody>
          <a:bodyPr wrap="square" lIns="36576" rIns="36576" tIns="18288" bIns="18288" anchor="t"/>
          <a:lstStyle/>
          <a:p>
            <a:pPr algn="just">
              <a:lnSpc>
                <a:spcPct val="100000"/>
              </a:lnSpc>
            </a:pPr>
            <a:r>
              <a:rPr sz="1050" b="0" i="0">
                <a:solidFill>
                  <a:srgbClr val="000000"/>
                </a:solidFill>
                <a:latin typeface="Arial"/>
              </a:rPr>
              <a:t>The authors are Brazilian and American researchers in psychology at the universities. This peer-reviewed article provides an explanation of how the theory of Bronfenbrenner developed into the bioecological model. It is clear in describing process, person, context and time. It is not new research but a theory review. It enhanced the theory comparison in the Key Influences section.</a:t>
            </a:r>
          </a:p>
        </p:txBody>
      </p:sp>
      <p:sp>
        <p:nvSpPr>
          <p:cNvPr id="22" name="TextBox 21"/>
          <p:cNvSpPr txBox="1"/>
          <p:nvPr/>
        </p:nvSpPr>
        <p:spPr>
          <a:xfrm>
            <a:off x="457200" y="7374636"/>
            <a:ext cx="6949440" cy="544068"/>
          </a:xfrm>
          <a:prstGeom prst="rect">
            <a:avLst/>
          </a:prstGeom>
          <a:noFill/>
        </p:spPr>
        <p:txBody>
          <a:bodyPr wrap="square" lIns="36576" rIns="36576" tIns="18288" bIns="18288" anchor="t"/>
          <a:lstStyle/>
          <a:p>
            <a:pPr>
              <a:lnSpc>
                <a:spcPct val="100000"/>
              </a:lnSpc>
            </a:pPr>
            <a:r>
              <a:rPr sz="1050" b="1" i="0" u="sng">
                <a:solidFill>
                  <a:srgbClr val="000000"/>
                </a:solidFill>
                <a:latin typeface="Arial"/>
              </a:rPr>
              <a:t>WHO (2024). </a:t>
            </a:r>
            <a:r>
              <a:rPr sz="1050" b="1" i="1" u="sng">
                <a:solidFill>
                  <a:srgbClr val="000000"/>
                </a:solidFill>
                <a:latin typeface="Arial"/>
              </a:rPr>
              <a:t>Physical activity</a:t>
            </a:r>
            <a:r>
              <a:rPr sz="1050" b="1" i="0" u="sng">
                <a:solidFill>
                  <a:srgbClr val="000000"/>
                </a:solidFill>
                <a:latin typeface="Arial"/>
              </a:rPr>
              <a:t>. [online] World Health Organization. Available at: https://www.who.int/news-room/fact-sheets/detail/physical-activity [Accessed 1 Nov. 2026].</a:t>
            </a:r>
          </a:p>
        </p:txBody>
      </p:sp>
      <p:sp>
        <p:nvSpPr>
          <p:cNvPr id="23" name="TextBox 22"/>
          <p:cNvSpPr txBox="1"/>
          <p:nvPr/>
        </p:nvSpPr>
        <p:spPr>
          <a:xfrm>
            <a:off x="7680960" y="7374636"/>
            <a:ext cx="8321040" cy="544068"/>
          </a:xfrm>
          <a:prstGeom prst="rect">
            <a:avLst/>
          </a:prstGeom>
          <a:noFill/>
        </p:spPr>
        <p:txBody>
          <a:bodyPr wrap="square" lIns="36576" rIns="36576" tIns="18288" bIns="18288" anchor="t"/>
          <a:lstStyle/>
          <a:p>
            <a:pPr algn="just">
              <a:lnSpc>
                <a:spcPct val="100000"/>
              </a:lnSpc>
            </a:pPr>
            <a:r>
              <a:rPr sz="1050" b="0" i="0">
                <a:solidFill>
                  <a:srgbClr val="000000"/>
                </a:solidFill>
                <a:latin typeface="Arial"/>
              </a:rPr>
              <a:t>WHO is the most important international health organization. This fact sheet of 2024 enumerates the positive effects of activity among kids and the levels of activity around the globe. Its teenage statistics are not country-specific UK but worldwide and partly outdated. It advocated the physical activity health challenge.</a:t>
            </a:r>
          </a:p>
        </p:txBody>
      </p:sp>
      <p:sp>
        <p:nvSpPr>
          <p:cNvPr id="24" name="TextBox 23"/>
          <p:cNvSpPr txBox="1"/>
          <p:nvPr/>
        </p:nvSpPr>
        <p:spPr>
          <a:xfrm>
            <a:off x="457200" y="8019288"/>
            <a:ext cx="6949440" cy="502920"/>
          </a:xfrm>
          <a:prstGeom prst="rect">
            <a:avLst/>
          </a:prstGeom>
          <a:noFill/>
        </p:spPr>
        <p:txBody>
          <a:bodyPr wrap="square" lIns="36576" rIns="36576" tIns="18288" bIns="18288" anchor="t"/>
          <a:lstStyle/>
          <a:p>
            <a:r>
              <a:rPr sz="1100" b="1" i="0">
                <a:solidFill>
                  <a:srgbClr val="000000"/>
                </a:solidFill>
                <a:latin typeface="Arial"/>
              </a:rPr>
              <a:t>Image References</a:t>
            </a:r>
          </a:p>
          <a:p>
            <a:r>
              <a:rPr sz="1050" b="0" i="1">
                <a:solidFill>
                  <a:srgbClr val="B42318"/>
                </a:solidFill>
                <a:latin typeface="Arial"/>
              </a:rPr>
              <a:t>[MISSING: image references – your content lists no photographs or illustrations. Add the full reference for any image you insert here (images are referenced only, not annotated).]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Development in Childhood</dc:title>
  <dc:subject/>
  <dc:creator/>
  <cp:keywords/>
  <dc:description/>
  <cp:lastModifiedBy/>
  <cp:revision>1</cp:revision>
  <dcterms:created xsi:type="dcterms:W3CDTF">2013-01-27T09:14:16Z</dcterms:created>
  <dcterms:modified xsi:type="dcterms:W3CDTF">2013-01-27T09:15:58Z</dcterms:modified>
  <cp:category/>
</cp:coreProperties>
</file>